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imes New Roman Bold" charset="1" panose="02020803070505020304"/>
      <p:regular r:id="rId19"/>
    </p:embeddedFont>
    <p:embeddedFont>
      <p:font typeface="TT Rounds Condensed Bold" charset="1" panose="02000806030000020003"/>
      <p:regular r:id="rId20"/>
    </p:embeddedFont>
    <p:embeddedFont>
      <p:font typeface="Times New Roman" charset="1" panose="02020603050405020304"/>
      <p:regular r:id="rId21"/>
    </p:embeddedFont>
    <p:embeddedFont>
      <p:font typeface="Times New Roman MT" charset="1" panose="02030502070405020303"/>
      <p:regular r:id="rId23"/>
    </p:embeddedFont>
    <p:embeddedFont>
      <p:font typeface="Calibri (MS) Bold" charset="1" panose="020F0702030404030204"/>
      <p:regular r:id="rId24"/>
    </p:embeddedFont>
    <p:embeddedFont>
      <p:font typeface="Calibri (MS)" charset="1" panose="020F0502020204030204"/>
      <p:regular r:id="rId25"/>
    </p:embeddedFont>
    <p:embeddedFont>
      <p:font typeface="Calibri (MS) Italics" charset="1" panose="020F05020202040A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98844"/>
            <a:ext cx="18252281" cy="433388"/>
            <a:chOff x="0" y="0"/>
            <a:chExt cx="24336375" cy="5778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6375" cy="577850"/>
            </a:xfrm>
            <a:custGeom>
              <a:avLst/>
              <a:gdLst/>
              <a:ahLst/>
              <a:cxnLst/>
              <a:rect r="r" b="b" t="t" l="l"/>
              <a:pathLst>
                <a:path h="577850" w="24336375">
                  <a:moveTo>
                    <a:pt x="0" y="0"/>
                  </a:moveTo>
                  <a:lnTo>
                    <a:pt x="24336375" y="0"/>
                  </a:lnTo>
                  <a:lnTo>
                    <a:pt x="24336375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57300" y="264319"/>
            <a:ext cx="16854488" cy="1028700"/>
            <a:chOff x="0" y="0"/>
            <a:chExt cx="2247265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7265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2472650">
                  <a:moveTo>
                    <a:pt x="0" y="0"/>
                  </a:moveTo>
                  <a:lnTo>
                    <a:pt x="22472650" y="0"/>
                  </a:lnTo>
                  <a:lnTo>
                    <a:pt x="2247265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69119" y="1334529"/>
            <a:ext cx="17552194" cy="47625"/>
            <a:chOff x="0" y="0"/>
            <a:chExt cx="23402925" cy="63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402925" cy="63500"/>
            </a:xfrm>
            <a:custGeom>
              <a:avLst/>
              <a:gdLst/>
              <a:ahLst/>
              <a:cxnLst/>
              <a:rect r="r" b="b" t="t" l="l"/>
              <a:pathLst>
                <a:path h="63500" w="23402925">
                  <a:moveTo>
                    <a:pt x="12700" y="0"/>
                  </a:moveTo>
                  <a:lnTo>
                    <a:pt x="23390225" y="38100"/>
                  </a:lnTo>
                  <a:cubicBezTo>
                    <a:pt x="23397211" y="38100"/>
                    <a:pt x="23402925" y="43815"/>
                    <a:pt x="23402925" y="50800"/>
                  </a:cubicBezTo>
                  <a:cubicBezTo>
                    <a:pt x="23402925" y="57785"/>
                    <a:pt x="23397211" y="63500"/>
                    <a:pt x="23390225" y="635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4472C4"/>
            </a:solidFill>
          </p:spPr>
        </p:sp>
      </p:grpSp>
      <p:grpSp>
        <p:nvGrpSpPr>
          <p:cNvPr name="Group 8" id="8"/>
          <p:cNvGrpSpPr/>
          <p:nvPr/>
        </p:nvGrpSpPr>
        <p:grpSpPr>
          <a:xfrm rot="22920">
            <a:off x="-31156" y="9602391"/>
            <a:ext cx="18283638" cy="57150"/>
            <a:chOff x="0" y="0"/>
            <a:chExt cx="24378183" cy="7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8158" cy="76200"/>
            </a:xfrm>
            <a:custGeom>
              <a:avLst/>
              <a:gdLst/>
              <a:ahLst/>
              <a:cxnLst/>
              <a:rect r="r" b="b" t="t" l="l"/>
              <a:pathLst>
                <a:path h="76200" w="24378158">
                  <a:moveTo>
                    <a:pt x="38100" y="0"/>
                  </a:moveTo>
                  <a:lnTo>
                    <a:pt x="24340058" y="0"/>
                  </a:lnTo>
                  <a:cubicBezTo>
                    <a:pt x="24361141" y="0"/>
                    <a:pt x="24378158" y="17018"/>
                    <a:pt x="24378158" y="38100"/>
                  </a:cubicBezTo>
                  <a:cubicBezTo>
                    <a:pt x="24378158" y="59182"/>
                    <a:pt x="24361141" y="76200"/>
                    <a:pt x="24340058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ubicBezTo>
                    <a:pt x="0" y="17018"/>
                    <a:pt x="17018" y="0"/>
                    <a:pt x="38100" y="0"/>
                  </a:cubicBez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527542" y="-341805"/>
            <a:ext cx="2313184" cy="2313184"/>
            <a:chOff x="0" y="0"/>
            <a:chExt cx="3084246" cy="30842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84195" cy="3084195"/>
            </a:xfrm>
            <a:custGeom>
              <a:avLst/>
              <a:gdLst/>
              <a:ahLst/>
              <a:cxnLst/>
              <a:rect r="r" b="b" t="t" l="l"/>
              <a:pathLst>
                <a:path h="3084195" w="3084195">
                  <a:moveTo>
                    <a:pt x="0" y="0"/>
                  </a:moveTo>
                  <a:lnTo>
                    <a:pt x="3084195" y="0"/>
                  </a:lnTo>
                  <a:lnTo>
                    <a:pt x="3084195" y="3084195"/>
                  </a:lnTo>
                  <a:lnTo>
                    <a:pt x="0" y="308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891828" y="1629804"/>
            <a:ext cx="13028705" cy="3275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9"/>
              </a:lnSpc>
            </a:pPr>
            <a:r>
              <a:rPr lang="en-US" sz="2350" b="true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</a:t>
            </a:r>
          </a:p>
          <a:p>
            <a:pPr algn="ctr">
              <a:lnSpc>
                <a:spcPts val="2819"/>
              </a:lnSpc>
            </a:pPr>
            <a:r>
              <a:rPr lang="en-US" sz="2350" b="true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Presentation </a:t>
            </a:r>
          </a:p>
          <a:p>
            <a:pPr algn="ctr">
              <a:lnSpc>
                <a:spcPts val="2819"/>
              </a:lnSpc>
            </a:pPr>
            <a:r>
              <a:rPr lang="en-US" sz="2350" b="true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 </a:t>
            </a:r>
          </a:p>
          <a:p>
            <a:pPr algn="ctr">
              <a:lnSpc>
                <a:spcPts val="3000"/>
              </a:lnSpc>
            </a:pPr>
            <a:r>
              <a:rPr lang="en-US" sz="2500" b="true">
                <a:solidFill>
                  <a:srgbClr val="99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Machine Learning for CIA II Activity</a:t>
            </a:r>
          </a:p>
          <a:p>
            <a:pPr algn="ctr">
              <a:lnSpc>
                <a:spcPts val="3000"/>
              </a:lnSpc>
            </a:pPr>
          </a:p>
          <a:p>
            <a:pPr algn="ctr">
              <a:lnSpc>
                <a:spcPts val="3648"/>
              </a:lnSpc>
            </a:pPr>
            <a:r>
              <a:rPr lang="en-US" sz="3200" b="true">
                <a:solidFill>
                  <a:srgbClr val="0B539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</a:t>
            </a:r>
            <a:r>
              <a:rPr lang="en-US" sz="3200" b="true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Traffic Violation Prediction using Machine Learning</a:t>
            </a:r>
          </a:p>
          <a:p>
            <a:pPr algn="ctr">
              <a:lnSpc>
                <a:spcPts val="3648"/>
              </a:lnSpc>
            </a:pPr>
            <a:r>
              <a:rPr lang="en-US" sz="3200" b="true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 Identify High-Risk Zones</a:t>
            </a:r>
          </a:p>
          <a:p>
            <a:pPr algn="ctr">
              <a:lnSpc>
                <a:spcPts val="3648"/>
              </a:lnSpc>
            </a:pPr>
            <a:r>
              <a:rPr lang="en-US" sz="3200" b="true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Based on Historical Traffic and Camera Data</a:t>
            </a:r>
            <a:r>
              <a:rPr lang="en-US" sz="3200" b="true">
                <a:solidFill>
                  <a:srgbClr val="0B539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89496" y="8318348"/>
            <a:ext cx="10911449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 b="true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Computer Engineering</a:t>
            </a:r>
          </a:p>
          <a:p>
            <a:pPr algn="ctr">
              <a:lnSpc>
                <a:spcPts val="3360"/>
              </a:lnSpc>
            </a:pPr>
            <a:r>
              <a:rPr lang="en-US" sz="2800" b="true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TY B Tech 2025-26 SEM VI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96756" y="5067300"/>
            <a:ext cx="3294487" cy="174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 b="true">
                <a:solidFill>
                  <a:srgbClr val="98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</a:t>
            </a:r>
          </a:p>
          <a:p>
            <a:pPr algn="ctr">
              <a:lnSpc>
                <a:spcPts val="3480"/>
              </a:lnSpc>
            </a:pPr>
          </a:p>
          <a:p>
            <a:pPr algn="ctr">
              <a:lnSpc>
                <a:spcPts val="3480"/>
              </a:lnSpc>
            </a:pPr>
          </a:p>
          <a:p>
            <a:pPr algn="ctr">
              <a:lnSpc>
                <a:spcPts val="2982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71588" y="361950"/>
            <a:ext cx="16854488" cy="1152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16">
                <a:solidFill>
                  <a:srgbClr val="FFFF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Sanjivani Rural Education Society’s</a:t>
            </a:r>
          </a:p>
          <a:p>
            <a:pPr algn="ctr">
              <a:lnSpc>
                <a:spcPts val="2399"/>
              </a:lnSpc>
            </a:pPr>
            <a:r>
              <a:rPr lang="en-US" b="true" sz="1999" spc="17">
                <a:solidFill>
                  <a:srgbClr val="FFFF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Sanjivani College of Engineering, Kopargaon-423 603</a:t>
            </a:r>
          </a:p>
          <a:p>
            <a:pPr algn="ctr">
              <a:lnSpc>
                <a:spcPts val="2399"/>
              </a:lnSpc>
            </a:pPr>
            <a:r>
              <a:rPr lang="en-US" b="true" sz="1999" spc="17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Department of Computer Engineering</a:t>
            </a:r>
          </a:p>
          <a:p>
            <a:pPr algn="ctr">
              <a:lnSpc>
                <a:spcPts val="239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718065" y="9901238"/>
            <a:ext cx="10437524" cy="592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16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DEPARTMENT OF COMPUTER ENGINEERING,  Sanjivani COE, Kopargaon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743252" y="9903619"/>
            <a:ext cx="219601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b="true" sz="2100" spc="1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1</a:t>
            </a:r>
          </a:p>
        </p:txBody>
      </p: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6212130" y="5722785"/>
          <a:ext cx="6212544" cy="2328862"/>
        </p:xfrm>
        <a:graphic>
          <a:graphicData uri="http://schemas.openxmlformats.org/drawingml/2006/table">
            <a:tbl>
              <a:tblPr/>
              <a:tblGrid>
                <a:gridCol w="577147"/>
                <a:gridCol w="1900087"/>
                <a:gridCol w="3735309"/>
              </a:tblGrid>
              <a:tr h="5822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UCS23M1121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Sonawane Kartik Ashok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22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UCS23M1131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Waghmode Prasad Bapu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22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UCS23M1137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Zalte Harshwardhan Anil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22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0124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UCSM2014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Shinde Tanmay Santoshkumar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812" y="9901238"/>
            <a:ext cx="18197512" cy="323850"/>
            <a:chOff x="0" y="0"/>
            <a:chExt cx="24263350" cy="431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63350" cy="431800"/>
            </a:xfrm>
            <a:custGeom>
              <a:avLst/>
              <a:gdLst/>
              <a:ahLst/>
              <a:cxnLst/>
              <a:rect r="r" b="b" t="t" l="l"/>
              <a:pathLst>
                <a:path h="431800" w="24263350">
                  <a:moveTo>
                    <a:pt x="0" y="0"/>
                  </a:moveTo>
                  <a:lnTo>
                    <a:pt x="24263350" y="0"/>
                  </a:lnTo>
                  <a:lnTo>
                    <a:pt x="24263350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name="Group 4" id="4"/>
          <p:cNvGrpSpPr/>
          <p:nvPr/>
        </p:nvGrpSpPr>
        <p:grpSpPr>
          <a:xfrm rot="22320">
            <a:off x="442732" y="1502999"/>
            <a:ext cx="17674009" cy="57150"/>
            <a:chOff x="0" y="0"/>
            <a:chExt cx="23565345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65358" cy="76200"/>
            </a:xfrm>
            <a:custGeom>
              <a:avLst/>
              <a:gdLst/>
              <a:ahLst/>
              <a:cxnLst/>
              <a:rect r="r" b="b" t="t" l="l"/>
              <a:pathLst>
                <a:path h="76200" w="23565358">
                  <a:moveTo>
                    <a:pt x="38100" y="0"/>
                  </a:moveTo>
                  <a:lnTo>
                    <a:pt x="23527258" y="0"/>
                  </a:lnTo>
                  <a:cubicBezTo>
                    <a:pt x="23548341" y="0"/>
                    <a:pt x="23565358" y="17018"/>
                    <a:pt x="23565358" y="38100"/>
                  </a:cubicBezTo>
                  <a:cubicBezTo>
                    <a:pt x="23565358" y="59182"/>
                    <a:pt x="23548341" y="76200"/>
                    <a:pt x="23527258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ubicBezTo>
                    <a:pt x="0" y="17018"/>
                    <a:pt x="17018" y="0"/>
                    <a:pt x="38100" y="0"/>
                  </a:cubicBez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85725" y="9625012"/>
            <a:ext cx="18459450" cy="171450"/>
            <a:chOff x="0" y="0"/>
            <a:chExt cx="24612600" cy="228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1" y="-1"/>
              <a:ext cx="24612601" cy="228601"/>
            </a:xfrm>
            <a:custGeom>
              <a:avLst/>
              <a:gdLst/>
              <a:ahLst/>
              <a:cxnLst/>
              <a:rect r="r" b="b" t="t" l="l"/>
              <a:pathLst>
                <a:path h="228601" w="24612601">
                  <a:moveTo>
                    <a:pt x="38355" y="1"/>
                  </a:moveTo>
                  <a:lnTo>
                    <a:pt x="24574755" y="152401"/>
                  </a:lnTo>
                  <a:cubicBezTo>
                    <a:pt x="24595838" y="152528"/>
                    <a:pt x="24612728" y="169673"/>
                    <a:pt x="24612601" y="190755"/>
                  </a:cubicBezTo>
                  <a:cubicBezTo>
                    <a:pt x="24612474" y="211837"/>
                    <a:pt x="24595329" y="228728"/>
                    <a:pt x="24574247" y="228601"/>
                  </a:cubicBezTo>
                  <a:lnTo>
                    <a:pt x="37847" y="76201"/>
                  </a:lnTo>
                  <a:cubicBezTo>
                    <a:pt x="16765" y="76074"/>
                    <a:pt x="-126" y="58929"/>
                    <a:pt x="1" y="37847"/>
                  </a:cubicBezTo>
                  <a:cubicBezTo>
                    <a:pt x="128" y="16765"/>
                    <a:pt x="17273" y="-126"/>
                    <a:pt x="38355" y="1"/>
                  </a:cubicBezTo>
                  <a:close/>
                </a:path>
              </a:pathLst>
            </a:custGeom>
            <a:solidFill>
              <a:srgbClr val="00206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003431" y="348655"/>
            <a:ext cx="14738194" cy="80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0000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Problem Definition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18065" y="9901238"/>
            <a:ext cx="10437524" cy="592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16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DEPARTMENT OF COMPUTER ENGINEERING,  Sanjivani COE, Kopargaon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43252" y="9903619"/>
            <a:ext cx="219601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b="true" sz="2100" spc="1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483137" y="-519916"/>
            <a:ext cx="2486568" cy="2486568"/>
            <a:chOff x="0" y="0"/>
            <a:chExt cx="3315424" cy="33154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462" cy="3315462"/>
            </a:xfrm>
            <a:custGeom>
              <a:avLst/>
              <a:gdLst/>
              <a:ahLst/>
              <a:cxnLst/>
              <a:rect r="r" b="b" t="t" l="l"/>
              <a:pathLst>
                <a:path h="3315462" w="3315462">
                  <a:moveTo>
                    <a:pt x="0" y="0"/>
                  </a:moveTo>
                  <a:lnTo>
                    <a:pt x="3315462" y="0"/>
                  </a:lnTo>
                  <a:lnTo>
                    <a:pt x="3315462" y="3315462"/>
                  </a:lnTo>
                  <a:lnTo>
                    <a:pt x="0" y="33154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4865" y="1736810"/>
            <a:ext cx="596238" cy="828383"/>
            <a:chOff x="0" y="0"/>
            <a:chExt cx="814159" cy="11311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780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D32F2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4070" cy="1131064"/>
            </a:xfrm>
            <a:custGeom>
              <a:avLst/>
              <a:gdLst/>
              <a:ahLst/>
              <a:cxnLst/>
              <a:rect r="r" b="b" t="t" l="l"/>
              <a:pathLst>
                <a:path h="1131064" w="814070">
                  <a:moveTo>
                    <a:pt x="16891" y="0"/>
                  </a:moveTo>
                  <a:lnTo>
                    <a:pt x="797179" y="0"/>
                  </a:lnTo>
                  <a:cubicBezTo>
                    <a:pt x="806577" y="0"/>
                    <a:pt x="814070" y="7620"/>
                    <a:pt x="814070" y="16891"/>
                  </a:cubicBezTo>
                  <a:lnTo>
                    <a:pt x="814070" y="1114171"/>
                  </a:lnTo>
                  <a:cubicBezTo>
                    <a:pt x="814070" y="1123569"/>
                    <a:pt x="806450" y="1131062"/>
                    <a:pt x="797179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797179" y="1097280"/>
                  </a:lnTo>
                  <a:lnTo>
                    <a:pt x="797179" y="1114171"/>
                  </a:lnTo>
                  <a:lnTo>
                    <a:pt x="780288" y="1114171"/>
                  </a:lnTo>
                  <a:lnTo>
                    <a:pt x="780288" y="16891"/>
                  </a:lnTo>
                  <a:lnTo>
                    <a:pt x="797179" y="16891"/>
                  </a:lnTo>
                  <a:lnTo>
                    <a:pt x="7971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32F2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37263" y="1749208"/>
            <a:ext cx="571433" cy="803578"/>
            <a:chOff x="0" y="0"/>
            <a:chExt cx="780288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80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0426" t="0" r="-130426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80288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51554" y="1749208"/>
            <a:ext cx="11785805" cy="803578"/>
            <a:chOff x="0" y="0"/>
            <a:chExt cx="1609344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0934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60934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Rising cases of overspeeding, signal jumping, lane violations &amp; wrong-side driving create severe road safety hazards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4865" y="3058249"/>
            <a:ext cx="596238" cy="828383"/>
            <a:chOff x="0" y="0"/>
            <a:chExt cx="814159" cy="11311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780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4070" cy="1131064"/>
            </a:xfrm>
            <a:custGeom>
              <a:avLst/>
              <a:gdLst/>
              <a:ahLst/>
              <a:cxnLst/>
              <a:rect r="r" b="b" t="t" l="l"/>
              <a:pathLst>
                <a:path h="1131064" w="814070">
                  <a:moveTo>
                    <a:pt x="16891" y="0"/>
                  </a:moveTo>
                  <a:lnTo>
                    <a:pt x="797179" y="0"/>
                  </a:lnTo>
                  <a:cubicBezTo>
                    <a:pt x="806577" y="0"/>
                    <a:pt x="814070" y="7620"/>
                    <a:pt x="814070" y="16891"/>
                  </a:cubicBezTo>
                  <a:lnTo>
                    <a:pt x="814070" y="1114171"/>
                  </a:lnTo>
                  <a:cubicBezTo>
                    <a:pt x="814070" y="1123569"/>
                    <a:pt x="806450" y="1131062"/>
                    <a:pt x="797179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797179" y="1097280"/>
                  </a:lnTo>
                  <a:lnTo>
                    <a:pt x="797179" y="1114171"/>
                  </a:lnTo>
                  <a:lnTo>
                    <a:pt x="780288" y="1114171"/>
                  </a:lnTo>
                  <a:lnTo>
                    <a:pt x="780288" y="16891"/>
                  </a:lnTo>
                  <a:lnTo>
                    <a:pt x="797179" y="16891"/>
                  </a:lnTo>
                  <a:lnTo>
                    <a:pt x="7971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37263" y="3070646"/>
            <a:ext cx="571433" cy="803578"/>
            <a:chOff x="0" y="0"/>
            <a:chExt cx="780288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80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0426" t="0" r="-130426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780288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51554" y="3070646"/>
            <a:ext cx="11785805" cy="803578"/>
            <a:chOff x="0" y="0"/>
            <a:chExt cx="1609344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0934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60934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Traditional traffic monitoring is manual, inconsistent, and lacks predictive capability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4865" y="4379687"/>
            <a:ext cx="596238" cy="828383"/>
            <a:chOff x="0" y="0"/>
            <a:chExt cx="814159" cy="113115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780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D32F2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4070" cy="1131064"/>
            </a:xfrm>
            <a:custGeom>
              <a:avLst/>
              <a:gdLst/>
              <a:ahLst/>
              <a:cxnLst/>
              <a:rect r="r" b="b" t="t" l="l"/>
              <a:pathLst>
                <a:path h="1131064" w="814070">
                  <a:moveTo>
                    <a:pt x="16891" y="0"/>
                  </a:moveTo>
                  <a:lnTo>
                    <a:pt x="797179" y="0"/>
                  </a:lnTo>
                  <a:cubicBezTo>
                    <a:pt x="806577" y="0"/>
                    <a:pt x="814070" y="7620"/>
                    <a:pt x="814070" y="16891"/>
                  </a:cubicBezTo>
                  <a:lnTo>
                    <a:pt x="814070" y="1114171"/>
                  </a:lnTo>
                  <a:cubicBezTo>
                    <a:pt x="814070" y="1123569"/>
                    <a:pt x="806450" y="1131062"/>
                    <a:pt x="797179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797179" y="1097280"/>
                  </a:lnTo>
                  <a:lnTo>
                    <a:pt x="797179" y="1114171"/>
                  </a:lnTo>
                  <a:lnTo>
                    <a:pt x="780288" y="1114171"/>
                  </a:lnTo>
                  <a:lnTo>
                    <a:pt x="780288" y="16891"/>
                  </a:lnTo>
                  <a:lnTo>
                    <a:pt x="797179" y="16891"/>
                  </a:lnTo>
                  <a:lnTo>
                    <a:pt x="7971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32F2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37263" y="4392085"/>
            <a:ext cx="571433" cy="803578"/>
            <a:chOff x="0" y="0"/>
            <a:chExt cx="780288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80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0426" t="0" r="-130426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780288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51554" y="4392085"/>
            <a:ext cx="11785805" cy="803578"/>
            <a:chOff x="0" y="0"/>
            <a:chExt cx="1609344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0934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60934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City traffic departments struggle to deploy patrol resources efficiently without risk-zone data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4865" y="5671386"/>
            <a:ext cx="596238" cy="828383"/>
            <a:chOff x="0" y="0"/>
            <a:chExt cx="814159" cy="113115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780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4070" cy="1131064"/>
            </a:xfrm>
            <a:custGeom>
              <a:avLst/>
              <a:gdLst/>
              <a:ahLst/>
              <a:cxnLst/>
              <a:rect r="r" b="b" t="t" l="l"/>
              <a:pathLst>
                <a:path h="1131064" w="814070">
                  <a:moveTo>
                    <a:pt x="16891" y="0"/>
                  </a:moveTo>
                  <a:lnTo>
                    <a:pt x="797179" y="0"/>
                  </a:lnTo>
                  <a:cubicBezTo>
                    <a:pt x="806577" y="0"/>
                    <a:pt x="814070" y="7620"/>
                    <a:pt x="814070" y="16891"/>
                  </a:cubicBezTo>
                  <a:lnTo>
                    <a:pt x="814070" y="1114171"/>
                  </a:lnTo>
                  <a:cubicBezTo>
                    <a:pt x="814070" y="1123569"/>
                    <a:pt x="806450" y="1131062"/>
                    <a:pt x="797179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797179" y="1097280"/>
                  </a:lnTo>
                  <a:lnTo>
                    <a:pt x="797179" y="1114171"/>
                  </a:lnTo>
                  <a:lnTo>
                    <a:pt x="780288" y="1114171"/>
                  </a:lnTo>
                  <a:lnTo>
                    <a:pt x="780288" y="16891"/>
                  </a:lnTo>
                  <a:lnTo>
                    <a:pt x="797179" y="16891"/>
                  </a:lnTo>
                  <a:lnTo>
                    <a:pt x="7971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37263" y="5683784"/>
            <a:ext cx="571433" cy="803578"/>
            <a:chOff x="0" y="0"/>
            <a:chExt cx="780288" cy="1097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80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0426" t="0" r="-130426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780288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551554" y="5683784"/>
            <a:ext cx="11785805" cy="803578"/>
            <a:chOff x="0" y="0"/>
            <a:chExt cx="16093440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0934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60934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Violations contribute to accidents, congestion, and loss of lives — demanding an intelligent solution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24865" y="6992825"/>
            <a:ext cx="596238" cy="828383"/>
            <a:chOff x="0" y="0"/>
            <a:chExt cx="814159" cy="113115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780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D32F2F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4070" cy="1131064"/>
            </a:xfrm>
            <a:custGeom>
              <a:avLst/>
              <a:gdLst/>
              <a:ahLst/>
              <a:cxnLst/>
              <a:rect r="r" b="b" t="t" l="l"/>
              <a:pathLst>
                <a:path h="1131064" w="814070">
                  <a:moveTo>
                    <a:pt x="16891" y="0"/>
                  </a:moveTo>
                  <a:lnTo>
                    <a:pt x="797179" y="0"/>
                  </a:lnTo>
                  <a:cubicBezTo>
                    <a:pt x="806577" y="0"/>
                    <a:pt x="814070" y="7620"/>
                    <a:pt x="814070" y="16891"/>
                  </a:cubicBezTo>
                  <a:lnTo>
                    <a:pt x="814070" y="1114171"/>
                  </a:lnTo>
                  <a:cubicBezTo>
                    <a:pt x="814070" y="1123569"/>
                    <a:pt x="806450" y="1131062"/>
                    <a:pt x="797179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797179" y="1097280"/>
                  </a:lnTo>
                  <a:lnTo>
                    <a:pt x="797179" y="1114171"/>
                  </a:lnTo>
                  <a:lnTo>
                    <a:pt x="780288" y="1114171"/>
                  </a:lnTo>
                  <a:lnTo>
                    <a:pt x="780288" y="16891"/>
                  </a:lnTo>
                  <a:lnTo>
                    <a:pt x="797179" y="16891"/>
                  </a:lnTo>
                  <a:lnTo>
                    <a:pt x="7971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32F2F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37263" y="7005223"/>
            <a:ext cx="571433" cy="803578"/>
            <a:chOff x="0" y="0"/>
            <a:chExt cx="780288" cy="10972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80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0426" t="0" r="-130426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780288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551554" y="7005223"/>
            <a:ext cx="11785805" cy="803578"/>
            <a:chOff x="0" y="0"/>
            <a:chExt cx="16093440" cy="10972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60934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160934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Existing systems react to violations after the fact rather than forecasting high-risk zones proactively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24865" y="8314264"/>
            <a:ext cx="596238" cy="828383"/>
            <a:chOff x="0" y="0"/>
            <a:chExt cx="814159" cy="113115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780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4070" cy="1131064"/>
            </a:xfrm>
            <a:custGeom>
              <a:avLst/>
              <a:gdLst/>
              <a:ahLst/>
              <a:cxnLst/>
              <a:rect r="r" b="b" t="t" l="l"/>
              <a:pathLst>
                <a:path h="1131064" w="814070">
                  <a:moveTo>
                    <a:pt x="16891" y="0"/>
                  </a:moveTo>
                  <a:lnTo>
                    <a:pt x="797179" y="0"/>
                  </a:lnTo>
                  <a:cubicBezTo>
                    <a:pt x="806577" y="0"/>
                    <a:pt x="814070" y="7620"/>
                    <a:pt x="814070" y="16891"/>
                  </a:cubicBezTo>
                  <a:lnTo>
                    <a:pt x="814070" y="1114171"/>
                  </a:lnTo>
                  <a:cubicBezTo>
                    <a:pt x="814070" y="1123569"/>
                    <a:pt x="806450" y="1131062"/>
                    <a:pt x="797179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797179" y="1097280"/>
                  </a:lnTo>
                  <a:lnTo>
                    <a:pt x="797179" y="1114171"/>
                  </a:lnTo>
                  <a:lnTo>
                    <a:pt x="780288" y="1114171"/>
                  </a:lnTo>
                  <a:lnTo>
                    <a:pt x="780288" y="16891"/>
                  </a:lnTo>
                  <a:lnTo>
                    <a:pt x="797179" y="16891"/>
                  </a:lnTo>
                  <a:lnTo>
                    <a:pt x="7971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837263" y="8326662"/>
            <a:ext cx="571433" cy="803578"/>
            <a:chOff x="0" y="0"/>
            <a:chExt cx="780288" cy="10972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80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0426" t="0" r="-130426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780288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551554" y="8326662"/>
            <a:ext cx="11785805" cy="803578"/>
            <a:chOff x="0" y="0"/>
            <a:chExt cx="16093440" cy="10972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60934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5780" r="0" b="-23578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160934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unified platform correlates camera data, historical records, and environmental factors for prediction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675903" y="1749208"/>
            <a:ext cx="3787232" cy="7761505"/>
            <a:chOff x="0" y="0"/>
            <a:chExt cx="5171440" cy="1059828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25400" y="24972"/>
              <a:ext cx="5120640" cy="10548339"/>
            </a:xfrm>
            <a:custGeom>
              <a:avLst/>
              <a:gdLst/>
              <a:ahLst/>
              <a:cxnLst/>
              <a:rect r="r" b="b" t="t" l="l"/>
              <a:pathLst>
                <a:path h="10548339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548339"/>
                  </a:lnTo>
                  <a:lnTo>
                    <a:pt x="0" y="10548339"/>
                  </a:lnTo>
                  <a:close/>
                </a:path>
              </a:pathLst>
            </a:custGeom>
            <a:solidFill>
              <a:srgbClr val="E0F7FA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171440" cy="10598284"/>
            </a:xfrm>
            <a:custGeom>
              <a:avLst/>
              <a:gdLst/>
              <a:ahLst/>
              <a:cxnLst/>
              <a:rect r="r" b="b" t="t" l="l"/>
              <a:pathLst>
                <a:path h="10598284" w="5171440">
                  <a:moveTo>
                    <a:pt x="25400" y="0"/>
                  </a:moveTo>
                  <a:lnTo>
                    <a:pt x="5146040" y="0"/>
                  </a:lnTo>
                  <a:cubicBezTo>
                    <a:pt x="5160010" y="0"/>
                    <a:pt x="5171440" y="11238"/>
                    <a:pt x="5171440" y="24972"/>
                  </a:cubicBezTo>
                  <a:lnTo>
                    <a:pt x="5171440" y="10573311"/>
                  </a:lnTo>
                  <a:cubicBezTo>
                    <a:pt x="5171440" y="10587046"/>
                    <a:pt x="5160010" y="10598284"/>
                    <a:pt x="5146040" y="10598284"/>
                  </a:cubicBezTo>
                  <a:lnTo>
                    <a:pt x="25400" y="10598284"/>
                  </a:lnTo>
                  <a:cubicBezTo>
                    <a:pt x="11430" y="10598284"/>
                    <a:pt x="0" y="10587046"/>
                    <a:pt x="0" y="10573311"/>
                  </a:cubicBezTo>
                  <a:lnTo>
                    <a:pt x="0" y="24972"/>
                  </a:lnTo>
                  <a:cubicBezTo>
                    <a:pt x="0" y="11238"/>
                    <a:pt x="11430" y="0"/>
                    <a:pt x="25400" y="0"/>
                  </a:cubicBezTo>
                  <a:moveTo>
                    <a:pt x="25400" y="49945"/>
                  </a:moveTo>
                  <a:lnTo>
                    <a:pt x="25400" y="24972"/>
                  </a:lnTo>
                  <a:lnTo>
                    <a:pt x="50800" y="24972"/>
                  </a:lnTo>
                  <a:lnTo>
                    <a:pt x="50800" y="10573311"/>
                  </a:lnTo>
                  <a:lnTo>
                    <a:pt x="25400" y="10573311"/>
                  </a:lnTo>
                  <a:lnTo>
                    <a:pt x="25400" y="10548339"/>
                  </a:lnTo>
                  <a:lnTo>
                    <a:pt x="5146040" y="10548339"/>
                  </a:lnTo>
                  <a:lnTo>
                    <a:pt x="5146040" y="10573311"/>
                  </a:lnTo>
                  <a:lnTo>
                    <a:pt x="5120640" y="10573311"/>
                  </a:lnTo>
                  <a:lnTo>
                    <a:pt x="5120640" y="24972"/>
                  </a:lnTo>
                  <a:lnTo>
                    <a:pt x="5146040" y="24972"/>
                  </a:lnTo>
                  <a:lnTo>
                    <a:pt x="5146040" y="49945"/>
                  </a:lnTo>
                  <a:lnTo>
                    <a:pt x="25400" y="49945"/>
                  </a:lnTo>
                  <a:close/>
                </a:path>
              </a:pathLst>
            </a:custGeom>
            <a:solidFill>
              <a:srgbClr val="006064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3694505" y="3653415"/>
            <a:ext cx="3750029" cy="5357184"/>
            <a:chOff x="0" y="0"/>
            <a:chExt cx="5120640" cy="73152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120640" cy="7315200"/>
            </a:xfrm>
            <a:custGeom>
              <a:avLst/>
              <a:gdLst/>
              <a:ahLst/>
              <a:cxnLst/>
              <a:rect r="r" b="b" t="t" l="l"/>
              <a:pathLst>
                <a:path h="7315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0"/>
                  </a:lnTo>
                  <a:lnTo>
                    <a:pt x="0" y="7315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3290" t="0" r="-133290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76200"/>
              <a:ext cx="5120640" cy="7391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D32F2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⚠️</a:t>
              </a:r>
            </a:p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D32F2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ROAD</a:t>
              </a:r>
            </a:p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D32F2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</a:t>
              </a:r>
            </a:p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D32F2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ALERT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4217825" y="2061902"/>
            <a:ext cx="2703397" cy="2703397"/>
            <a:chOff x="0" y="0"/>
            <a:chExt cx="3691471" cy="369147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3657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657600">
                  <a:moveTo>
                    <a:pt x="0" y="1828800"/>
                  </a:moveTo>
                  <a:cubicBezTo>
                    <a:pt x="0" y="818769"/>
                    <a:pt x="818769" y="0"/>
                    <a:pt x="1828800" y="0"/>
                  </a:cubicBezTo>
                  <a:cubicBezTo>
                    <a:pt x="2838831" y="0"/>
                    <a:pt x="3657600" y="818769"/>
                    <a:pt x="3657600" y="1828800"/>
                  </a:cubicBezTo>
                  <a:cubicBezTo>
                    <a:pt x="3657600" y="2838831"/>
                    <a:pt x="2838831" y="3657600"/>
                    <a:pt x="1828800" y="3657600"/>
                  </a:cubicBezTo>
                  <a:cubicBezTo>
                    <a:pt x="818769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D32F2F">
                <a:alpha val="3922"/>
              </a:srgbClr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691509" cy="3691382"/>
            </a:xfrm>
            <a:custGeom>
              <a:avLst/>
              <a:gdLst/>
              <a:ahLst/>
              <a:cxnLst/>
              <a:rect r="r" b="b" t="t" l="l"/>
              <a:pathLst>
                <a:path h="3691382" w="3691509">
                  <a:moveTo>
                    <a:pt x="0" y="1845691"/>
                  </a:moveTo>
                  <a:cubicBezTo>
                    <a:pt x="0" y="826389"/>
                    <a:pt x="826389" y="0"/>
                    <a:pt x="1845691" y="0"/>
                  </a:cubicBezTo>
                  <a:lnTo>
                    <a:pt x="1845691" y="16891"/>
                  </a:lnTo>
                  <a:lnTo>
                    <a:pt x="1845691" y="0"/>
                  </a:lnTo>
                  <a:cubicBezTo>
                    <a:pt x="2865120" y="0"/>
                    <a:pt x="3691509" y="826389"/>
                    <a:pt x="3691509" y="1845691"/>
                  </a:cubicBezTo>
                  <a:cubicBezTo>
                    <a:pt x="3691509" y="2865120"/>
                    <a:pt x="2865120" y="3691382"/>
                    <a:pt x="1845818" y="3691382"/>
                  </a:cubicBezTo>
                  <a:lnTo>
                    <a:pt x="1845818" y="3674491"/>
                  </a:lnTo>
                  <a:lnTo>
                    <a:pt x="1845818" y="3691382"/>
                  </a:lnTo>
                  <a:cubicBezTo>
                    <a:pt x="826389" y="3691509"/>
                    <a:pt x="0" y="2865120"/>
                    <a:pt x="0" y="1845691"/>
                  </a:cubicBezTo>
                  <a:lnTo>
                    <a:pt x="16891" y="1845691"/>
                  </a:lnTo>
                  <a:lnTo>
                    <a:pt x="31115" y="1854835"/>
                  </a:lnTo>
                  <a:cubicBezTo>
                    <a:pt x="27051" y="1861185"/>
                    <a:pt x="19304" y="1864106"/>
                    <a:pt x="12065" y="1861947"/>
                  </a:cubicBezTo>
                  <a:cubicBezTo>
                    <a:pt x="4826" y="1859788"/>
                    <a:pt x="0" y="1853311"/>
                    <a:pt x="0" y="1845691"/>
                  </a:cubicBezTo>
                  <a:moveTo>
                    <a:pt x="33909" y="1845691"/>
                  </a:moveTo>
                  <a:lnTo>
                    <a:pt x="16891" y="1845691"/>
                  </a:lnTo>
                  <a:lnTo>
                    <a:pt x="2667" y="1836547"/>
                  </a:lnTo>
                  <a:cubicBezTo>
                    <a:pt x="6731" y="1830197"/>
                    <a:pt x="14478" y="1827276"/>
                    <a:pt x="21717" y="1829435"/>
                  </a:cubicBezTo>
                  <a:cubicBezTo>
                    <a:pt x="28956" y="1831594"/>
                    <a:pt x="33909" y="1838198"/>
                    <a:pt x="33909" y="1845691"/>
                  </a:cubicBezTo>
                  <a:cubicBezTo>
                    <a:pt x="33909" y="2846451"/>
                    <a:pt x="845058" y="3657600"/>
                    <a:pt x="1845691" y="3657600"/>
                  </a:cubicBezTo>
                  <a:cubicBezTo>
                    <a:pt x="2846451" y="3657600"/>
                    <a:pt x="3657600" y="2846451"/>
                    <a:pt x="3657600" y="1845691"/>
                  </a:cubicBezTo>
                  <a:lnTo>
                    <a:pt x="3674491" y="1845691"/>
                  </a:lnTo>
                  <a:lnTo>
                    <a:pt x="3657600" y="1845691"/>
                  </a:lnTo>
                  <a:cubicBezTo>
                    <a:pt x="3657600" y="845058"/>
                    <a:pt x="2846451" y="33909"/>
                    <a:pt x="1845691" y="33909"/>
                  </a:cubicBezTo>
                  <a:lnTo>
                    <a:pt x="1845691" y="16891"/>
                  </a:lnTo>
                  <a:lnTo>
                    <a:pt x="1845691" y="33909"/>
                  </a:lnTo>
                  <a:cubicBezTo>
                    <a:pt x="845058" y="33909"/>
                    <a:pt x="33909" y="845058"/>
                    <a:pt x="33909" y="1845691"/>
                  </a:cubicBezTo>
                  <a:close/>
                </a:path>
              </a:pathLst>
            </a:custGeom>
            <a:solidFill>
              <a:srgbClr val="D32F2F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812" y="9901238"/>
            <a:ext cx="18197512" cy="323850"/>
            <a:chOff x="0" y="0"/>
            <a:chExt cx="24263350" cy="431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63350" cy="431800"/>
            </a:xfrm>
            <a:custGeom>
              <a:avLst/>
              <a:gdLst/>
              <a:ahLst/>
              <a:cxnLst/>
              <a:rect r="r" b="b" t="t" l="l"/>
              <a:pathLst>
                <a:path h="431800" w="24263350">
                  <a:moveTo>
                    <a:pt x="0" y="0"/>
                  </a:moveTo>
                  <a:lnTo>
                    <a:pt x="24263350" y="0"/>
                  </a:lnTo>
                  <a:lnTo>
                    <a:pt x="24263350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name="Group 4" id="4"/>
          <p:cNvGrpSpPr/>
          <p:nvPr/>
        </p:nvGrpSpPr>
        <p:grpSpPr>
          <a:xfrm rot="22320">
            <a:off x="442732" y="1512094"/>
            <a:ext cx="17674009" cy="57150"/>
            <a:chOff x="0" y="0"/>
            <a:chExt cx="23565345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65358" cy="76200"/>
            </a:xfrm>
            <a:custGeom>
              <a:avLst/>
              <a:gdLst/>
              <a:ahLst/>
              <a:cxnLst/>
              <a:rect r="r" b="b" t="t" l="l"/>
              <a:pathLst>
                <a:path h="76200" w="23565358">
                  <a:moveTo>
                    <a:pt x="38100" y="0"/>
                  </a:moveTo>
                  <a:lnTo>
                    <a:pt x="23527258" y="0"/>
                  </a:lnTo>
                  <a:cubicBezTo>
                    <a:pt x="23548341" y="0"/>
                    <a:pt x="23565358" y="17018"/>
                    <a:pt x="23565358" y="38100"/>
                  </a:cubicBezTo>
                  <a:cubicBezTo>
                    <a:pt x="23565358" y="59182"/>
                    <a:pt x="23548341" y="76200"/>
                    <a:pt x="23527258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ubicBezTo>
                    <a:pt x="0" y="17018"/>
                    <a:pt x="17018" y="0"/>
                    <a:pt x="38100" y="0"/>
                  </a:cubicBez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85725" y="9625012"/>
            <a:ext cx="18459450" cy="171450"/>
            <a:chOff x="0" y="0"/>
            <a:chExt cx="24612600" cy="228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1" y="-1"/>
              <a:ext cx="24612601" cy="228601"/>
            </a:xfrm>
            <a:custGeom>
              <a:avLst/>
              <a:gdLst/>
              <a:ahLst/>
              <a:cxnLst/>
              <a:rect r="r" b="b" t="t" l="l"/>
              <a:pathLst>
                <a:path h="228601" w="24612601">
                  <a:moveTo>
                    <a:pt x="38355" y="1"/>
                  </a:moveTo>
                  <a:lnTo>
                    <a:pt x="24574755" y="152401"/>
                  </a:lnTo>
                  <a:cubicBezTo>
                    <a:pt x="24595838" y="152528"/>
                    <a:pt x="24612728" y="169673"/>
                    <a:pt x="24612601" y="190755"/>
                  </a:cubicBezTo>
                  <a:cubicBezTo>
                    <a:pt x="24612474" y="211837"/>
                    <a:pt x="24595329" y="228728"/>
                    <a:pt x="24574247" y="228601"/>
                  </a:cubicBezTo>
                  <a:lnTo>
                    <a:pt x="37847" y="76201"/>
                  </a:lnTo>
                  <a:cubicBezTo>
                    <a:pt x="16765" y="76074"/>
                    <a:pt x="-126" y="58929"/>
                    <a:pt x="1" y="37847"/>
                  </a:cubicBezTo>
                  <a:cubicBezTo>
                    <a:pt x="128" y="16765"/>
                    <a:pt x="17273" y="-126"/>
                    <a:pt x="38355" y="1"/>
                  </a:cubicBezTo>
                  <a:close/>
                </a:path>
              </a:pathLst>
            </a:custGeom>
            <a:solidFill>
              <a:srgbClr val="00206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910629" y="383362"/>
            <a:ext cx="14738194" cy="80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0000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18065" y="9901238"/>
            <a:ext cx="10437524" cy="592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16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DEPARTMENT OF COMPUTER ENGINEERING,  Sanjivani COE, Kopargaon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43252" y="9903619"/>
            <a:ext cx="219601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b="true" sz="2100" spc="1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3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483137" y="-539401"/>
            <a:ext cx="2486568" cy="2486568"/>
            <a:chOff x="0" y="0"/>
            <a:chExt cx="3315424" cy="33154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462" cy="3315462"/>
            </a:xfrm>
            <a:custGeom>
              <a:avLst/>
              <a:gdLst/>
              <a:ahLst/>
              <a:cxnLst/>
              <a:rect r="r" b="b" t="t" l="l"/>
              <a:pathLst>
                <a:path h="3315462" w="3315462">
                  <a:moveTo>
                    <a:pt x="0" y="0"/>
                  </a:moveTo>
                  <a:lnTo>
                    <a:pt x="3315462" y="0"/>
                  </a:lnTo>
                  <a:lnTo>
                    <a:pt x="3315462" y="3315462"/>
                  </a:lnTo>
                  <a:lnTo>
                    <a:pt x="0" y="33154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41065" y="1698853"/>
            <a:ext cx="7956121" cy="2468140"/>
            <a:chOff x="0" y="0"/>
            <a:chExt cx="11135360" cy="345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0320" y="20320"/>
              <a:ext cx="110947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EBF4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135360" cy="3454400"/>
            </a:xfrm>
            <a:custGeom>
              <a:avLst/>
              <a:gdLst/>
              <a:ahLst/>
              <a:cxnLst/>
              <a:rect r="r" b="b" t="t" l="l"/>
              <a:pathLst>
                <a:path h="3454400" w="11135360">
                  <a:moveTo>
                    <a:pt x="20320" y="0"/>
                  </a:moveTo>
                  <a:lnTo>
                    <a:pt x="11115040" y="0"/>
                  </a:lnTo>
                  <a:cubicBezTo>
                    <a:pt x="11126216" y="0"/>
                    <a:pt x="11135360" y="9144"/>
                    <a:pt x="11135360" y="20320"/>
                  </a:cubicBezTo>
                  <a:lnTo>
                    <a:pt x="11135360" y="3434080"/>
                  </a:lnTo>
                  <a:cubicBezTo>
                    <a:pt x="11135360" y="3445256"/>
                    <a:pt x="11126216" y="3454400"/>
                    <a:pt x="11115040" y="3454400"/>
                  </a:cubicBezTo>
                  <a:lnTo>
                    <a:pt x="20320" y="3454400"/>
                  </a:lnTo>
                  <a:cubicBezTo>
                    <a:pt x="9144" y="3454400"/>
                    <a:pt x="0" y="3445256"/>
                    <a:pt x="0" y="343408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3434080"/>
                  </a:lnTo>
                  <a:lnTo>
                    <a:pt x="20320" y="3434080"/>
                  </a:lnTo>
                  <a:lnTo>
                    <a:pt x="20320" y="3413760"/>
                  </a:lnTo>
                  <a:lnTo>
                    <a:pt x="11115040" y="3413760"/>
                  </a:lnTo>
                  <a:lnTo>
                    <a:pt x="11115040" y="3434080"/>
                  </a:lnTo>
                  <a:lnTo>
                    <a:pt x="11094720" y="3434080"/>
                  </a:lnTo>
                  <a:lnTo>
                    <a:pt x="11094720" y="20320"/>
                  </a:lnTo>
                  <a:lnTo>
                    <a:pt x="11115040" y="20320"/>
                  </a:lnTo>
                  <a:lnTo>
                    <a:pt x="1111504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43488" y="1701275"/>
            <a:ext cx="146156" cy="2463303"/>
            <a:chOff x="0" y="0"/>
            <a:chExt cx="204559" cy="34476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170688" cy="3413760"/>
            </a:xfrm>
            <a:custGeom>
              <a:avLst/>
              <a:gdLst/>
              <a:ahLst/>
              <a:cxnLst/>
              <a:rect r="r" b="b" t="t" l="l"/>
              <a:pathLst>
                <a:path h="34137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4470" cy="3447542"/>
            </a:xfrm>
            <a:custGeom>
              <a:avLst/>
              <a:gdLst/>
              <a:ahLst/>
              <a:cxnLst/>
              <a:rect r="r" b="b" t="t" l="l"/>
              <a:pathLst>
                <a:path h="34475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430651"/>
                  </a:lnTo>
                  <a:cubicBezTo>
                    <a:pt x="204470" y="3440049"/>
                    <a:pt x="196850" y="3447542"/>
                    <a:pt x="18757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87579" y="3413760"/>
                  </a:lnTo>
                  <a:lnTo>
                    <a:pt x="187579" y="3430651"/>
                  </a:lnTo>
                  <a:lnTo>
                    <a:pt x="170688" y="34306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16916" y="1852748"/>
            <a:ext cx="7491530" cy="609776"/>
            <a:chOff x="0" y="0"/>
            <a:chExt cx="10485120" cy="853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04851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 High-Risk Zones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16916" y="2445102"/>
            <a:ext cx="7491530" cy="1567995"/>
            <a:chOff x="0" y="0"/>
            <a:chExt cx="10485120" cy="21945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851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095" r="0" b="-4309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48512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Develop ML models to forecast violation-prone road segments using historical and real-time data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390814" y="1698853"/>
            <a:ext cx="7956121" cy="2468140"/>
            <a:chOff x="0" y="0"/>
            <a:chExt cx="11135360" cy="345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20320" y="20320"/>
              <a:ext cx="110947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FF8E1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135360" cy="3454400"/>
            </a:xfrm>
            <a:custGeom>
              <a:avLst/>
              <a:gdLst/>
              <a:ahLst/>
              <a:cxnLst/>
              <a:rect r="r" b="b" t="t" l="l"/>
              <a:pathLst>
                <a:path h="3454400" w="11135360">
                  <a:moveTo>
                    <a:pt x="20320" y="0"/>
                  </a:moveTo>
                  <a:lnTo>
                    <a:pt x="11115040" y="0"/>
                  </a:lnTo>
                  <a:cubicBezTo>
                    <a:pt x="11126216" y="0"/>
                    <a:pt x="11135360" y="9144"/>
                    <a:pt x="11135360" y="20320"/>
                  </a:cubicBezTo>
                  <a:lnTo>
                    <a:pt x="11135360" y="3434080"/>
                  </a:lnTo>
                  <a:cubicBezTo>
                    <a:pt x="11135360" y="3445256"/>
                    <a:pt x="11126216" y="3454400"/>
                    <a:pt x="11115040" y="3454400"/>
                  </a:cubicBezTo>
                  <a:lnTo>
                    <a:pt x="20320" y="3454400"/>
                  </a:lnTo>
                  <a:cubicBezTo>
                    <a:pt x="9144" y="3454400"/>
                    <a:pt x="0" y="3445256"/>
                    <a:pt x="0" y="343408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3434080"/>
                  </a:lnTo>
                  <a:lnTo>
                    <a:pt x="20320" y="3434080"/>
                  </a:lnTo>
                  <a:lnTo>
                    <a:pt x="20320" y="3413760"/>
                  </a:lnTo>
                  <a:lnTo>
                    <a:pt x="11115040" y="3413760"/>
                  </a:lnTo>
                  <a:lnTo>
                    <a:pt x="11115040" y="3434080"/>
                  </a:lnTo>
                  <a:lnTo>
                    <a:pt x="11094720" y="3434080"/>
                  </a:lnTo>
                  <a:lnTo>
                    <a:pt x="11094720" y="20320"/>
                  </a:lnTo>
                  <a:lnTo>
                    <a:pt x="11115040" y="20320"/>
                  </a:lnTo>
                  <a:lnTo>
                    <a:pt x="1111504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393237" y="1701275"/>
            <a:ext cx="146156" cy="2463303"/>
            <a:chOff x="0" y="0"/>
            <a:chExt cx="204559" cy="34476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170688" cy="3413760"/>
            </a:xfrm>
            <a:custGeom>
              <a:avLst/>
              <a:gdLst/>
              <a:ahLst/>
              <a:cxnLst/>
              <a:rect r="r" b="b" t="t" l="l"/>
              <a:pathLst>
                <a:path h="34137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4470" cy="3447542"/>
            </a:xfrm>
            <a:custGeom>
              <a:avLst/>
              <a:gdLst/>
              <a:ahLst/>
              <a:cxnLst/>
              <a:rect r="r" b="b" t="t" l="l"/>
              <a:pathLst>
                <a:path h="34475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430651"/>
                  </a:lnTo>
                  <a:cubicBezTo>
                    <a:pt x="204470" y="3440049"/>
                    <a:pt x="196850" y="3447542"/>
                    <a:pt x="18757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87579" y="3413760"/>
                  </a:lnTo>
                  <a:lnTo>
                    <a:pt x="187579" y="3430651"/>
                  </a:lnTo>
                  <a:lnTo>
                    <a:pt x="170688" y="34306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666665" y="1852748"/>
            <a:ext cx="7491530" cy="609776"/>
            <a:chOff x="0" y="0"/>
            <a:chExt cx="10485120" cy="853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04851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Automate Detection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666665" y="2445102"/>
            <a:ext cx="7491530" cy="1567995"/>
            <a:chOff x="0" y="0"/>
            <a:chExt cx="10485120" cy="21945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4851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095" r="0" b="-4309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48512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Automate the identification of traffic violations using camera footage and OpenCV-based feature extraction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41065" y="4356425"/>
            <a:ext cx="7956121" cy="2468140"/>
            <a:chOff x="0" y="0"/>
            <a:chExt cx="11135360" cy="345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20320" y="20320"/>
              <a:ext cx="110947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EBF4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135360" cy="3454400"/>
            </a:xfrm>
            <a:custGeom>
              <a:avLst/>
              <a:gdLst/>
              <a:ahLst/>
              <a:cxnLst/>
              <a:rect r="r" b="b" t="t" l="l"/>
              <a:pathLst>
                <a:path h="3454400" w="11135360">
                  <a:moveTo>
                    <a:pt x="20320" y="0"/>
                  </a:moveTo>
                  <a:lnTo>
                    <a:pt x="11115040" y="0"/>
                  </a:lnTo>
                  <a:cubicBezTo>
                    <a:pt x="11126216" y="0"/>
                    <a:pt x="11135360" y="9144"/>
                    <a:pt x="11135360" y="20320"/>
                  </a:cubicBezTo>
                  <a:lnTo>
                    <a:pt x="11135360" y="3434080"/>
                  </a:lnTo>
                  <a:cubicBezTo>
                    <a:pt x="11135360" y="3445256"/>
                    <a:pt x="11126216" y="3454400"/>
                    <a:pt x="11115040" y="3454400"/>
                  </a:cubicBezTo>
                  <a:lnTo>
                    <a:pt x="20320" y="3454400"/>
                  </a:lnTo>
                  <a:cubicBezTo>
                    <a:pt x="9144" y="3454400"/>
                    <a:pt x="0" y="3445256"/>
                    <a:pt x="0" y="343408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3434080"/>
                  </a:lnTo>
                  <a:lnTo>
                    <a:pt x="20320" y="3434080"/>
                  </a:lnTo>
                  <a:lnTo>
                    <a:pt x="20320" y="3413760"/>
                  </a:lnTo>
                  <a:lnTo>
                    <a:pt x="11115040" y="3413760"/>
                  </a:lnTo>
                  <a:lnTo>
                    <a:pt x="11115040" y="3434080"/>
                  </a:lnTo>
                  <a:lnTo>
                    <a:pt x="11094720" y="3434080"/>
                  </a:lnTo>
                  <a:lnTo>
                    <a:pt x="11094720" y="20320"/>
                  </a:lnTo>
                  <a:lnTo>
                    <a:pt x="11115040" y="20320"/>
                  </a:lnTo>
                  <a:lnTo>
                    <a:pt x="1111504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43488" y="4358848"/>
            <a:ext cx="146156" cy="2463303"/>
            <a:chOff x="0" y="0"/>
            <a:chExt cx="204559" cy="344763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170688" cy="3413760"/>
            </a:xfrm>
            <a:custGeom>
              <a:avLst/>
              <a:gdLst/>
              <a:ahLst/>
              <a:cxnLst/>
              <a:rect r="r" b="b" t="t" l="l"/>
              <a:pathLst>
                <a:path h="34137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4470" cy="3447542"/>
            </a:xfrm>
            <a:custGeom>
              <a:avLst/>
              <a:gdLst/>
              <a:ahLst/>
              <a:cxnLst/>
              <a:rect r="r" b="b" t="t" l="l"/>
              <a:pathLst>
                <a:path h="34475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430651"/>
                  </a:lnTo>
                  <a:cubicBezTo>
                    <a:pt x="204470" y="3440049"/>
                    <a:pt x="196850" y="3447542"/>
                    <a:pt x="18757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87579" y="3413760"/>
                  </a:lnTo>
                  <a:lnTo>
                    <a:pt x="187579" y="3430651"/>
                  </a:lnTo>
                  <a:lnTo>
                    <a:pt x="170688" y="34306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16916" y="4510321"/>
            <a:ext cx="7491530" cy="609776"/>
            <a:chOff x="0" y="0"/>
            <a:chExt cx="10485120" cy="853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04851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Multi-Model Evaluation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16916" y="5102674"/>
            <a:ext cx="7491530" cy="1567995"/>
            <a:chOff x="0" y="0"/>
            <a:chExt cx="10485120" cy="21945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4851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095" r="0" b="-4309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048512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 &amp; compare Logistic Regression, Decision Trees, Random Forest, and Gradient Boosting models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390814" y="4356425"/>
            <a:ext cx="7956121" cy="2468140"/>
            <a:chOff x="0" y="0"/>
            <a:chExt cx="11135360" cy="3454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20320" y="20320"/>
              <a:ext cx="110947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FF8E1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135360" cy="3454400"/>
            </a:xfrm>
            <a:custGeom>
              <a:avLst/>
              <a:gdLst/>
              <a:ahLst/>
              <a:cxnLst/>
              <a:rect r="r" b="b" t="t" l="l"/>
              <a:pathLst>
                <a:path h="3454400" w="11135360">
                  <a:moveTo>
                    <a:pt x="20320" y="0"/>
                  </a:moveTo>
                  <a:lnTo>
                    <a:pt x="11115040" y="0"/>
                  </a:lnTo>
                  <a:cubicBezTo>
                    <a:pt x="11126216" y="0"/>
                    <a:pt x="11135360" y="9144"/>
                    <a:pt x="11135360" y="20320"/>
                  </a:cubicBezTo>
                  <a:lnTo>
                    <a:pt x="11135360" y="3434080"/>
                  </a:lnTo>
                  <a:cubicBezTo>
                    <a:pt x="11135360" y="3445256"/>
                    <a:pt x="11126216" y="3454400"/>
                    <a:pt x="11115040" y="3454400"/>
                  </a:cubicBezTo>
                  <a:lnTo>
                    <a:pt x="20320" y="3454400"/>
                  </a:lnTo>
                  <a:cubicBezTo>
                    <a:pt x="9144" y="3454400"/>
                    <a:pt x="0" y="3445256"/>
                    <a:pt x="0" y="343408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3434080"/>
                  </a:lnTo>
                  <a:lnTo>
                    <a:pt x="20320" y="3434080"/>
                  </a:lnTo>
                  <a:lnTo>
                    <a:pt x="20320" y="3413760"/>
                  </a:lnTo>
                  <a:lnTo>
                    <a:pt x="11115040" y="3413760"/>
                  </a:lnTo>
                  <a:lnTo>
                    <a:pt x="11115040" y="3434080"/>
                  </a:lnTo>
                  <a:lnTo>
                    <a:pt x="11094720" y="3434080"/>
                  </a:lnTo>
                  <a:lnTo>
                    <a:pt x="11094720" y="20320"/>
                  </a:lnTo>
                  <a:lnTo>
                    <a:pt x="11115040" y="20320"/>
                  </a:lnTo>
                  <a:lnTo>
                    <a:pt x="1111504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393237" y="4358848"/>
            <a:ext cx="146156" cy="2463303"/>
            <a:chOff x="0" y="0"/>
            <a:chExt cx="204559" cy="344763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170688" cy="3413760"/>
            </a:xfrm>
            <a:custGeom>
              <a:avLst/>
              <a:gdLst/>
              <a:ahLst/>
              <a:cxnLst/>
              <a:rect r="r" b="b" t="t" l="l"/>
              <a:pathLst>
                <a:path h="34137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4470" cy="3447542"/>
            </a:xfrm>
            <a:custGeom>
              <a:avLst/>
              <a:gdLst/>
              <a:ahLst/>
              <a:cxnLst/>
              <a:rect r="r" b="b" t="t" l="l"/>
              <a:pathLst>
                <a:path h="34475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430651"/>
                  </a:lnTo>
                  <a:cubicBezTo>
                    <a:pt x="204470" y="3440049"/>
                    <a:pt x="196850" y="3447542"/>
                    <a:pt x="18757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87579" y="3413760"/>
                  </a:lnTo>
                  <a:lnTo>
                    <a:pt x="187579" y="3430651"/>
                  </a:lnTo>
                  <a:lnTo>
                    <a:pt x="170688" y="34306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666665" y="4510321"/>
            <a:ext cx="7491530" cy="609776"/>
            <a:chOff x="0" y="0"/>
            <a:chExt cx="10485120" cy="8534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104851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 Dashboard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666665" y="5102674"/>
            <a:ext cx="7491530" cy="1567995"/>
            <a:chOff x="0" y="0"/>
            <a:chExt cx="10485120" cy="21945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4851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095" r="0" b="-4309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048512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Deploy a Flask/Streamlit dashboard showing heatmaps, risk scores, and automated alerts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41065" y="7033048"/>
            <a:ext cx="7956121" cy="2468140"/>
            <a:chOff x="0" y="0"/>
            <a:chExt cx="11135360" cy="3454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20320" y="20320"/>
              <a:ext cx="110947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EBF4FF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135360" cy="3454400"/>
            </a:xfrm>
            <a:custGeom>
              <a:avLst/>
              <a:gdLst/>
              <a:ahLst/>
              <a:cxnLst/>
              <a:rect r="r" b="b" t="t" l="l"/>
              <a:pathLst>
                <a:path h="3454400" w="11135360">
                  <a:moveTo>
                    <a:pt x="20320" y="0"/>
                  </a:moveTo>
                  <a:lnTo>
                    <a:pt x="11115040" y="0"/>
                  </a:lnTo>
                  <a:cubicBezTo>
                    <a:pt x="11126216" y="0"/>
                    <a:pt x="11135360" y="9144"/>
                    <a:pt x="11135360" y="20320"/>
                  </a:cubicBezTo>
                  <a:lnTo>
                    <a:pt x="11135360" y="3434080"/>
                  </a:lnTo>
                  <a:cubicBezTo>
                    <a:pt x="11135360" y="3445256"/>
                    <a:pt x="11126216" y="3454400"/>
                    <a:pt x="11115040" y="3454400"/>
                  </a:cubicBezTo>
                  <a:lnTo>
                    <a:pt x="20320" y="3454400"/>
                  </a:lnTo>
                  <a:cubicBezTo>
                    <a:pt x="9144" y="3454400"/>
                    <a:pt x="0" y="3445256"/>
                    <a:pt x="0" y="343408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3434080"/>
                  </a:lnTo>
                  <a:lnTo>
                    <a:pt x="20320" y="3434080"/>
                  </a:lnTo>
                  <a:lnTo>
                    <a:pt x="20320" y="3413760"/>
                  </a:lnTo>
                  <a:lnTo>
                    <a:pt x="11115040" y="3413760"/>
                  </a:lnTo>
                  <a:lnTo>
                    <a:pt x="11115040" y="3434080"/>
                  </a:lnTo>
                  <a:lnTo>
                    <a:pt x="11094720" y="3434080"/>
                  </a:lnTo>
                  <a:lnTo>
                    <a:pt x="11094720" y="20320"/>
                  </a:lnTo>
                  <a:lnTo>
                    <a:pt x="11115040" y="20320"/>
                  </a:lnTo>
                  <a:lnTo>
                    <a:pt x="1111504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43488" y="7035471"/>
            <a:ext cx="146156" cy="2463303"/>
            <a:chOff x="0" y="0"/>
            <a:chExt cx="204559" cy="344763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170688" cy="3413760"/>
            </a:xfrm>
            <a:custGeom>
              <a:avLst/>
              <a:gdLst/>
              <a:ahLst/>
              <a:cxnLst/>
              <a:rect r="r" b="b" t="t" l="l"/>
              <a:pathLst>
                <a:path h="34137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04470" cy="3447542"/>
            </a:xfrm>
            <a:custGeom>
              <a:avLst/>
              <a:gdLst/>
              <a:ahLst/>
              <a:cxnLst/>
              <a:rect r="r" b="b" t="t" l="l"/>
              <a:pathLst>
                <a:path h="34475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430651"/>
                  </a:lnTo>
                  <a:cubicBezTo>
                    <a:pt x="204470" y="3440049"/>
                    <a:pt x="196850" y="3447542"/>
                    <a:pt x="18757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87579" y="3413760"/>
                  </a:lnTo>
                  <a:lnTo>
                    <a:pt x="187579" y="3430651"/>
                  </a:lnTo>
                  <a:lnTo>
                    <a:pt x="170688" y="34306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16916" y="7186944"/>
            <a:ext cx="7491530" cy="609776"/>
            <a:chOff x="0" y="0"/>
            <a:chExt cx="10485120" cy="8534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104851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Support Smart Cities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16916" y="7779297"/>
            <a:ext cx="7491530" cy="1567995"/>
            <a:chOff x="0" y="0"/>
            <a:chExt cx="10485120" cy="21945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4851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095" r="0" b="-4309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048512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Enable proactive policing, optimized patrol planning, and smarter signal regulation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390814" y="7033048"/>
            <a:ext cx="7956121" cy="2468140"/>
            <a:chOff x="0" y="0"/>
            <a:chExt cx="11135360" cy="34544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20320" y="20320"/>
              <a:ext cx="110947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FF8E1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1135360" cy="3454400"/>
            </a:xfrm>
            <a:custGeom>
              <a:avLst/>
              <a:gdLst/>
              <a:ahLst/>
              <a:cxnLst/>
              <a:rect r="r" b="b" t="t" l="l"/>
              <a:pathLst>
                <a:path h="3454400" w="11135360">
                  <a:moveTo>
                    <a:pt x="20320" y="0"/>
                  </a:moveTo>
                  <a:lnTo>
                    <a:pt x="11115040" y="0"/>
                  </a:lnTo>
                  <a:cubicBezTo>
                    <a:pt x="11126216" y="0"/>
                    <a:pt x="11135360" y="9144"/>
                    <a:pt x="11135360" y="20320"/>
                  </a:cubicBezTo>
                  <a:lnTo>
                    <a:pt x="11135360" y="3434080"/>
                  </a:lnTo>
                  <a:cubicBezTo>
                    <a:pt x="11135360" y="3445256"/>
                    <a:pt x="11126216" y="3454400"/>
                    <a:pt x="11115040" y="3454400"/>
                  </a:cubicBezTo>
                  <a:lnTo>
                    <a:pt x="20320" y="3454400"/>
                  </a:lnTo>
                  <a:cubicBezTo>
                    <a:pt x="9144" y="3454400"/>
                    <a:pt x="0" y="3445256"/>
                    <a:pt x="0" y="343408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3434080"/>
                  </a:lnTo>
                  <a:lnTo>
                    <a:pt x="20320" y="3434080"/>
                  </a:lnTo>
                  <a:lnTo>
                    <a:pt x="20320" y="3413760"/>
                  </a:lnTo>
                  <a:lnTo>
                    <a:pt x="11115040" y="3413760"/>
                  </a:lnTo>
                  <a:lnTo>
                    <a:pt x="11115040" y="3434080"/>
                  </a:lnTo>
                  <a:lnTo>
                    <a:pt x="11094720" y="3434080"/>
                  </a:lnTo>
                  <a:lnTo>
                    <a:pt x="11094720" y="20320"/>
                  </a:lnTo>
                  <a:lnTo>
                    <a:pt x="11115040" y="20320"/>
                  </a:lnTo>
                  <a:lnTo>
                    <a:pt x="1111504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393237" y="7035471"/>
            <a:ext cx="146156" cy="2463303"/>
            <a:chOff x="0" y="0"/>
            <a:chExt cx="204559" cy="344763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6891" y="16891"/>
              <a:ext cx="170688" cy="3413760"/>
            </a:xfrm>
            <a:custGeom>
              <a:avLst/>
              <a:gdLst/>
              <a:ahLst/>
              <a:cxnLst/>
              <a:rect r="r" b="b" t="t" l="l"/>
              <a:pathLst>
                <a:path h="34137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04470" cy="3447542"/>
            </a:xfrm>
            <a:custGeom>
              <a:avLst/>
              <a:gdLst/>
              <a:ahLst/>
              <a:cxnLst/>
              <a:rect r="r" b="b" t="t" l="l"/>
              <a:pathLst>
                <a:path h="34475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430651"/>
                  </a:lnTo>
                  <a:cubicBezTo>
                    <a:pt x="204470" y="3440049"/>
                    <a:pt x="196850" y="3447542"/>
                    <a:pt x="18757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87579" y="3413760"/>
                  </a:lnTo>
                  <a:lnTo>
                    <a:pt x="187579" y="3430651"/>
                  </a:lnTo>
                  <a:lnTo>
                    <a:pt x="170688" y="34306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666665" y="7186944"/>
            <a:ext cx="7491530" cy="609776"/>
            <a:chOff x="0" y="0"/>
            <a:chExt cx="10485120" cy="8534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104851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Performance Metrics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666665" y="7779297"/>
            <a:ext cx="7491530" cy="1567995"/>
            <a:chOff x="0" y="0"/>
            <a:chExt cx="10485120" cy="219456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4851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095" r="0" b="-4309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1048512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Validate models using Accuracy, Precision, Recall, F1-Score, and ROC-AUC for reliable results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812" y="9901238"/>
            <a:ext cx="18197512" cy="323850"/>
            <a:chOff x="0" y="0"/>
            <a:chExt cx="24263350" cy="431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63350" cy="431800"/>
            </a:xfrm>
            <a:custGeom>
              <a:avLst/>
              <a:gdLst/>
              <a:ahLst/>
              <a:cxnLst/>
              <a:rect r="r" b="b" t="t" l="l"/>
              <a:pathLst>
                <a:path h="431800" w="24263350">
                  <a:moveTo>
                    <a:pt x="0" y="0"/>
                  </a:moveTo>
                  <a:lnTo>
                    <a:pt x="24263350" y="0"/>
                  </a:lnTo>
                  <a:lnTo>
                    <a:pt x="24263350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name="Group 4" id="4"/>
          <p:cNvGrpSpPr/>
          <p:nvPr/>
        </p:nvGrpSpPr>
        <p:grpSpPr>
          <a:xfrm rot="22320">
            <a:off x="442732" y="1550194"/>
            <a:ext cx="17674009" cy="57150"/>
            <a:chOff x="0" y="0"/>
            <a:chExt cx="23565345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65358" cy="76200"/>
            </a:xfrm>
            <a:custGeom>
              <a:avLst/>
              <a:gdLst/>
              <a:ahLst/>
              <a:cxnLst/>
              <a:rect r="r" b="b" t="t" l="l"/>
              <a:pathLst>
                <a:path h="76200" w="23565358">
                  <a:moveTo>
                    <a:pt x="38100" y="0"/>
                  </a:moveTo>
                  <a:lnTo>
                    <a:pt x="23527258" y="0"/>
                  </a:lnTo>
                  <a:cubicBezTo>
                    <a:pt x="23548341" y="0"/>
                    <a:pt x="23565358" y="17018"/>
                    <a:pt x="23565358" y="38100"/>
                  </a:cubicBezTo>
                  <a:cubicBezTo>
                    <a:pt x="23565358" y="59182"/>
                    <a:pt x="23548341" y="76200"/>
                    <a:pt x="23527258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ubicBezTo>
                    <a:pt x="0" y="17018"/>
                    <a:pt x="17018" y="0"/>
                    <a:pt x="38100" y="0"/>
                  </a:cubicBez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85725" y="9625012"/>
            <a:ext cx="18459450" cy="171450"/>
            <a:chOff x="0" y="0"/>
            <a:chExt cx="24612600" cy="228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1" y="-1"/>
              <a:ext cx="24612601" cy="228601"/>
            </a:xfrm>
            <a:custGeom>
              <a:avLst/>
              <a:gdLst/>
              <a:ahLst/>
              <a:cxnLst/>
              <a:rect r="r" b="b" t="t" l="l"/>
              <a:pathLst>
                <a:path h="228601" w="24612601">
                  <a:moveTo>
                    <a:pt x="38355" y="1"/>
                  </a:moveTo>
                  <a:lnTo>
                    <a:pt x="24574755" y="152401"/>
                  </a:lnTo>
                  <a:cubicBezTo>
                    <a:pt x="24595838" y="152528"/>
                    <a:pt x="24612728" y="169673"/>
                    <a:pt x="24612601" y="190755"/>
                  </a:cubicBezTo>
                  <a:cubicBezTo>
                    <a:pt x="24612474" y="211837"/>
                    <a:pt x="24595329" y="228728"/>
                    <a:pt x="24574247" y="228601"/>
                  </a:cubicBezTo>
                  <a:lnTo>
                    <a:pt x="37847" y="76201"/>
                  </a:lnTo>
                  <a:cubicBezTo>
                    <a:pt x="16765" y="76074"/>
                    <a:pt x="-126" y="58929"/>
                    <a:pt x="1" y="37847"/>
                  </a:cubicBezTo>
                  <a:cubicBezTo>
                    <a:pt x="128" y="16765"/>
                    <a:pt x="17273" y="-126"/>
                    <a:pt x="38355" y="1"/>
                  </a:cubicBezTo>
                  <a:close/>
                </a:path>
              </a:pathLst>
            </a:custGeom>
            <a:solidFill>
              <a:srgbClr val="00206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003431" y="367274"/>
            <a:ext cx="14738194" cy="806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0000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Proposed Solution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743252" y="9903619"/>
            <a:ext cx="219601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b="true" sz="2100" spc="1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4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483137" y="-482246"/>
            <a:ext cx="2486568" cy="2486568"/>
            <a:chOff x="0" y="0"/>
            <a:chExt cx="3315424" cy="33154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15462" cy="3315462"/>
            </a:xfrm>
            <a:custGeom>
              <a:avLst/>
              <a:gdLst/>
              <a:ahLst/>
              <a:cxnLst/>
              <a:rect r="r" b="b" t="t" l="l"/>
              <a:pathLst>
                <a:path h="3315462" w="3315462">
                  <a:moveTo>
                    <a:pt x="0" y="0"/>
                  </a:moveTo>
                  <a:lnTo>
                    <a:pt x="3315462" y="0"/>
                  </a:lnTo>
                  <a:lnTo>
                    <a:pt x="3315462" y="3315462"/>
                  </a:lnTo>
                  <a:lnTo>
                    <a:pt x="0" y="33154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48640" y="1625279"/>
            <a:ext cx="17190720" cy="640080"/>
            <a:chOff x="0" y="0"/>
            <a:chExt cx="22920960" cy="853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20961" cy="853440"/>
            </a:xfrm>
            <a:custGeom>
              <a:avLst/>
              <a:gdLst/>
              <a:ahLst/>
              <a:cxnLst/>
              <a:rect r="r" b="b" t="t" l="l"/>
              <a:pathLst>
                <a:path h="8534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3312" r="0" b="-47331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292096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Traffic Violation Prediction &amp; High-Risk Zone Identification System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08283" y="2370134"/>
            <a:ext cx="3317243" cy="5328923"/>
            <a:chOff x="0" y="0"/>
            <a:chExt cx="4422991" cy="71052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4389120" cy="7071360"/>
            </a:xfrm>
            <a:custGeom>
              <a:avLst/>
              <a:gdLst/>
              <a:ahLst/>
              <a:cxnLst/>
              <a:rect r="r" b="b" t="t" l="l"/>
              <a:pathLst>
                <a:path h="7071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071360"/>
                  </a:lnTo>
                  <a:lnTo>
                    <a:pt x="0" y="707136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22902" cy="7105142"/>
            </a:xfrm>
            <a:custGeom>
              <a:avLst/>
              <a:gdLst/>
              <a:ahLst/>
              <a:cxnLst/>
              <a:rect r="r" b="b" t="t" l="l"/>
              <a:pathLst>
                <a:path h="7105142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7088251"/>
                  </a:lnTo>
                  <a:cubicBezTo>
                    <a:pt x="4422902" y="7097649"/>
                    <a:pt x="4415282" y="7105142"/>
                    <a:pt x="4406011" y="7105142"/>
                  </a:cubicBezTo>
                  <a:lnTo>
                    <a:pt x="16891" y="7105142"/>
                  </a:lnTo>
                  <a:cubicBezTo>
                    <a:pt x="7493" y="7105142"/>
                    <a:pt x="0" y="7097522"/>
                    <a:pt x="0" y="7088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088251"/>
                  </a:lnTo>
                  <a:lnTo>
                    <a:pt x="16891" y="7088251"/>
                  </a:lnTo>
                  <a:lnTo>
                    <a:pt x="16891" y="7071360"/>
                  </a:lnTo>
                  <a:lnTo>
                    <a:pt x="4406011" y="7071360"/>
                  </a:lnTo>
                  <a:lnTo>
                    <a:pt x="4406011" y="7088251"/>
                  </a:lnTo>
                  <a:lnTo>
                    <a:pt x="4389120" y="7088251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20980" y="2474271"/>
            <a:ext cx="3291840" cy="1005840"/>
            <a:chOff x="0" y="0"/>
            <a:chExt cx="4389120" cy="1341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89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389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INPUT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97507" y="3565198"/>
            <a:ext cx="2938777" cy="3121657"/>
            <a:chOff x="0" y="0"/>
            <a:chExt cx="3918369" cy="416220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8509" y="8509"/>
              <a:ext cx="3901440" cy="4145280"/>
            </a:xfrm>
            <a:custGeom>
              <a:avLst/>
              <a:gdLst/>
              <a:ahLst/>
              <a:cxnLst/>
              <a:rect r="r" b="b" t="t" l="l"/>
              <a:pathLst>
                <a:path h="414528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918458" cy="4162298"/>
            </a:xfrm>
            <a:custGeom>
              <a:avLst/>
              <a:gdLst/>
              <a:ahLst/>
              <a:cxnLst/>
              <a:rect r="r" b="b" t="t" l="l"/>
              <a:pathLst>
                <a:path h="4162298" w="3918458">
                  <a:moveTo>
                    <a:pt x="8509" y="0"/>
                  </a:moveTo>
                  <a:lnTo>
                    <a:pt x="3909949" y="0"/>
                  </a:lnTo>
                  <a:cubicBezTo>
                    <a:pt x="3914648" y="0"/>
                    <a:pt x="3918458" y="3810"/>
                    <a:pt x="3918458" y="8509"/>
                  </a:cubicBezTo>
                  <a:lnTo>
                    <a:pt x="3918458" y="4153789"/>
                  </a:lnTo>
                  <a:cubicBezTo>
                    <a:pt x="3918458" y="4158488"/>
                    <a:pt x="3914648" y="4162298"/>
                    <a:pt x="3909949" y="4162298"/>
                  </a:cubicBezTo>
                  <a:lnTo>
                    <a:pt x="8509" y="4162298"/>
                  </a:lnTo>
                  <a:cubicBezTo>
                    <a:pt x="3810" y="4162298"/>
                    <a:pt x="0" y="4158488"/>
                    <a:pt x="0" y="41537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153789"/>
                  </a:lnTo>
                  <a:lnTo>
                    <a:pt x="8509" y="4153789"/>
                  </a:lnTo>
                  <a:lnTo>
                    <a:pt x="8509" y="4145280"/>
                  </a:lnTo>
                  <a:lnTo>
                    <a:pt x="3909949" y="4145280"/>
                  </a:lnTo>
                  <a:lnTo>
                    <a:pt x="3909949" y="4153789"/>
                  </a:lnTo>
                  <a:lnTo>
                    <a:pt x="3901440" y="4153789"/>
                  </a:lnTo>
                  <a:lnTo>
                    <a:pt x="3901440" y="8509"/>
                  </a:lnTo>
                  <a:lnTo>
                    <a:pt x="3909949" y="8509"/>
                  </a:lnTo>
                  <a:lnTo>
                    <a:pt x="3909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495305" y="4429758"/>
            <a:ext cx="274320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Traffic records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Camera footage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Speed / Weather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536699" y="4747574"/>
            <a:ext cx="244859" cy="427739"/>
            <a:chOff x="0" y="0"/>
            <a:chExt cx="326479" cy="57031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292608" cy="536448"/>
            </a:xfrm>
            <a:custGeom>
              <a:avLst/>
              <a:gdLst/>
              <a:ahLst/>
              <a:cxnLst/>
              <a:rect r="r" b="b" t="t" l="l"/>
              <a:pathLst>
                <a:path h="53644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6390" cy="570232"/>
            </a:xfrm>
            <a:custGeom>
              <a:avLst/>
              <a:gdLst/>
              <a:ahLst/>
              <a:cxnLst/>
              <a:rect r="r" b="b" t="t" l="l"/>
              <a:pathLst>
                <a:path h="57023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553339"/>
                  </a:lnTo>
                  <a:cubicBezTo>
                    <a:pt x="326390" y="562737"/>
                    <a:pt x="318770" y="570230"/>
                    <a:pt x="309499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309499" y="536448"/>
                  </a:lnTo>
                  <a:lnTo>
                    <a:pt x="309499" y="553339"/>
                  </a:lnTo>
                  <a:lnTo>
                    <a:pt x="292608" y="553339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792731" y="2370134"/>
            <a:ext cx="3317243" cy="5328923"/>
            <a:chOff x="0" y="0"/>
            <a:chExt cx="4422991" cy="71052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4389120" cy="7071360"/>
            </a:xfrm>
            <a:custGeom>
              <a:avLst/>
              <a:gdLst/>
              <a:ahLst/>
              <a:cxnLst/>
              <a:rect r="r" b="b" t="t" l="l"/>
              <a:pathLst>
                <a:path h="7071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071360"/>
                  </a:lnTo>
                  <a:lnTo>
                    <a:pt x="0" y="7071360"/>
                  </a:lnTo>
                  <a:close/>
                </a:path>
              </a:pathLst>
            </a:custGeom>
            <a:solidFill>
              <a:srgbClr val="6A1B9A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422902" cy="7105142"/>
            </a:xfrm>
            <a:custGeom>
              <a:avLst/>
              <a:gdLst/>
              <a:ahLst/>
              <a:cxnLst/>
              <a:rect r="r" b="b" t="t" l="l"/>
              <a:pathLst>
                <a:path h="7105142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7088251"/>
                  </a:lnTo>
                  <a:cubicBezTo>
                    <a:pt x="4422902" y="7097649"/>
                    <a:pt x="4415282" y="7105142"/>
                    <a:pt x="4406011" y="7105142"/>
                  </a:cubicBezTo>
                  <a:lnTo>
                    <a:pt x="16891" y="7105142"/>
                  </a:lnTo>
                  <a:cubicBezTo>
                    <a:pt x="7493" y="7105142"/>
                    <a:pt x="0" y="7097522"/>
                    <a:pt x="0" y="7088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088251"/>
                  </a:lnTo>
                  <a:lnTo>
                    <a:pt x="16891" y="7088251"/>
                  </a:lnTo>
                  <a:lnTo>
                    <a:pt x="16891" y="7071360"/>
                  </a:lnTo>
                  <a:lnTo>
                    <a:pt x="4406011" y="7071360"/>
                  </a:lnTo>
                  <a:lnTo>
                    <a:pt x="4406011" y="7088251"/>
                  </a:lnTo>
                  <a:lnTo>
                    <a:pt x="4389120" y="7088251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A1B9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805428" y="2474271"/>
            <a:ext cx="3291840" cy="1005840"/>
            <a:chOff x="0" y="0"/>
            <a:chExt cx="4389120" cy="1341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389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4389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PROCESSING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981955" y="3565198"/>
            <a:ext cx="2938777" cy="3121657"/>
            <a:chOff x="0" y="0"/>
            <a:chExt cx="3918369" cy="416220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8509" y="8509"/>
              <a:ext cx="3901440" cy="4145280"/>
            </a:xfrm>
            <a:custGeom>
              <a:avLst/>
              <a:gdLst/>
              <a:ahLst/>
              <a:cxnLst/>
              <a:rect r="r" b="b" t="t" l="l"/>
              <a:pathLst>
                <a:path h="414528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918458" cy="4162298"/>
            </a:xfrm>
            <a:custGeom>
              <a:avLst/>
              <a:gdLst/>
              <a:ahLst/>
              <a:cxnLst/>
              <a:rect r="r" b="b" t="t" l="l"/>
              <a:pathLst>
                <a:path h="4162298" w="3918458">
                  <a:moveTo>
                    <a:pt x="8509" y="0"/>
                  </a:moveTo>
                  <a:lnTo>
                    <a:pt x="3909949" y="0"/>
                  </a:lnTo>
                  <a:cubicBezTo>
                    <a:pt x="3914648" y="0"/>
                    <a:pt x="3918458" y="3810"/>
                    <a:pt x="3918458" y="8509"/>
                  </a:cubicBezTo>
                  <a:lnTo>
                    <a:pt x="3918458" y="4153789"/>
                  </a:lnTo>
                  <a:cubicBezTo>
                    <a:pt x="3918458" y="4158488"/>
                    <a:pt x="3914648" y="4162298"/>
                    <a:pt x="3909949" y="4162298"/>
                  </a:cubicBezTo>
                  <a:lnTo>
                    <a:pt x="8509" y="4162298"/>
                  </a:lnTo>
                  <a:cubicBezTo>
                    <a:pt x="3810" y="4162298"/>
                    <a:pt x="0" y="4158488"/>
                    <a:pt x="0" y="41537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153789"/>
                  </a:lnTo>
                  <a:lnTo>
                    <a:pt x="8509" y="4153789"/>
                  </a:lnTo>
                  <a:lnTo>
                    <a:pt x="8509" y="4145280"/>
                  </a:lnTo>
                  <a:lnTo>
                    <a:pt x="3909949" y="4145280"/>
                  </a:lnTo>
                  <a:lnTo>
                    <a:pt x="3909949" y="4153789"/>
                  </a:lnTo>
                  <a:lnTo>
                    <a:pt x="3901440" y="4153789"/>
                  </a:lnTo>
                  <a:lnTo>
                    <a:pt x="3901440" y="8509"/>
                  </a:lnTo>
                  <a:lnTo>
                    <a:pt x="3909949" y="8509"/>
                  </a:lnTo>
                  <a:lnTo>
                    <a:pt x="3909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4079753" y="4429758"/>
            <a:ext cx="274320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Pandas/NumPy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Cleaning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Feature Eng.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121147" y="4747574"/>
            <a:ext cx="244859" cy="427739"/>
            <a:chOff x="0" y="0"/>
            <a:chExt cx="326479" cy="57031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292608" cy="536448"/>
            </a:xfrm>
            <a:custGeom>
              <a:avLst/>
              <a:gdLst/>
              <a:ahLst/>
              <a:cxnLst/>
              <a:rect r="r" b="b" t="t" l="l"/>
              <a:pathLst>
                <a:path h="53644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26390" cy="570232"/>
            </a:xfrm>
            <a:custGeom>
              <a:avLst/>
              <a:gdLst/>
              <a:ahLst/>
              <a:cxnLst/>
              <a:rect r="r" b="b" t="t" l="l"/>
              <a:pathLst>
                <a:path h="57023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553339"/>
                  </a:lnTo>
                  <a:cubicBezTo>
                    <a:pt x="326390" y="562737"/>
                    <a:pt x="318770" y="570230"/>
                    <a:pt x="309499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309499" y="536448"/>
                  </a:lnTo>
                  <a:lnTo>
                    <a:pt x="309499" y="553339"/>
                  </a:lnTo>
                  <a:lnTo>
                    <a:pt x="292608" y="553339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377179" y="2370134"/>
            <a:ext cx="3317243" cy="5328923"/>
            <a:chOff x="0" y="0"/>
            <a:chExt cx="4422991" cy="710523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4389120" cy="7071360"/>
            </a:xfrm>
            <a:custGeom>
              <a:avLst/>
              <a:gdLst/>
              <a:ahLst/>
              <a:cxnLst/>
              <a:rect r="r" b="b" t="t" l="l"/>
              <a:pathLst>
                <a:path h="7071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071360"/>
                  </a:lnTo>
                  <a:lnTo>
                    <a:pt x="0" y="7071360"/>
                  </a:lnTo>
                  <a:close/>
                </a:path>
              </a:pathLst>
            </a:custGeom>
            <a:solidFill>
              <a:srgbClr val="00695C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422902" cy="7105142"/>
            </a:xfrm>
            <a:custGeom>
              <a:avLst/>
              <a:gdLst/>
              <a:ahLst/>
              <a:cxnLst/>
              <a:rect r="r" b="b" t="t" l="l"/>
              <a:pathLst>
                <a:path h="7105142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7088251"/>
                  </a:lnTo>
                  <a:cubicBezTo>
                    <a:pt x="4422902" y="7097649"/>
                    <a:pt x="4415282" y="7105142"/>
                    <a:pt x="4406011" y="7105142"/>
                  </a:cubicBezTo>
                  <a:lnTo>
                    <a:pt x="16891" y="7105142"/>
                  </a:lnTo>
                  <a:cubicBezTo>
                    <a:pt x="7493" y="7105142"/>
                    <a:pt x="0" y="7097522"/>
                    <a:pt x="0" y="7088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088251"/>
                  </a:lnTo>
                  <a:lnTo>
                    <a:pt x="16891" y="7088251"/>
                  </a:lnTo>
                  <a:lnTo>
                    <a:pt x="16891" y="7071360"/>
                  </a:lnTo>
                  <a:lnTo>
                    <a:pt x="4406011" y="7071360"/>
                  </a:lnTo>
                  <a:lnTo>
                    <a:pt x="4406011" y="7088251"/>
                  </a:lnTo>
                  <a:lnTo>
                    <a:pt x="4389120" y="7088251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695C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389876" y="2474271"/>
            <a:ext cx="3291840" cy="1005840"/>
            <a:chOff x="0" y="0"/>
            <a:chExt cx="4389120" cy="13411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389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4389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EXTRACTION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566403" y="3565198"/>
            <a:ext cx="2938777" cy="3121657"/>
            <a:chOff x="0" y="0"/>
            <a:chExt cx="3918369" cy="416220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8509" y="8509"/>
              <a:ext cx="3901440" cy="4145280"/>
            </a:xfrm>
            <a:custGeom>
              <a:avLst/>
              <a:gdLst/>
              <a:ahLst/>
              <a:cxnLst/>
              <a:rect r="r" b="b" t="t" l="l"/>
              <a:pathLst>
                <a:path h="414528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18458" cy="4162298"/>
            </a:xfrm>
            <a:custGeom>
              <a:avLst/>
              <a:gdLst/>
              <a:ahLst/>
              <a:cxnLst/>
              <a:rect r="r" b="b" t="t" l="l"/>
              <a:pathLst>
                <a:path h="4162298" w="3918458">
                  <a:moveTo>
                    <a:pt x="8509" y="0"/>
                  </a:moveTo>
                  <a:lnTo>
                    <a:pt x="3909949" y="0"/>
                  </a:lnTo>
                  <a:cubicBezTo>
                    <a:pt x="3914648" y="0"/>
                    <a:pt x="3918458" y="3810"/>
                    <a:pt x="3918458" y="8509"/>
                  </a:cubicBezTo>
                  <a:lnTo>
                    <a:pt x="3918458" y="4153789"/>
                  </a:lnTo>
                  <a:cubicBezTo>
                    <a:pt x="3918458" y="4158488"/>
                    <a:pt x="3914648" y="4162298"/>
                    <a:pt x="3909949" y="4162298"/>
                  </a:cubicBezTo>
                  <a:lnTo>
                    <a:pt x="8509" y="4162298"/>
                  </a:lnTo>
                  <a:cubicBezTo>
                    <a:pt x="3810" y="4162298"/>
                    <a:pt x="0" y="4158488"/>
                    <a:pt x="0" y="41537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153789"/>
                  </a:lnTo>
                  <a:lnTo>
                    <a:pt x="8509" y="4153789"/>
                  </a:lnTo>
                  <a:lnTo>
                    <a:pt x="8509" y="4145280"/>
                  </a:lnTo>
                  <a:lnTo>
                    <a:pt x="3909949" y="4145280"/>
                  </a:lnTo>
                  <a:lnTo>
                    <a:pt x="3909949" y="4153789"/>
                  </a:lnTo>
                  <a:lnTo>
                    <a:pt x="3901440" y="4153789"/>
                  </a:lnTo>
                  <a:lnTo>
                    <a:pt x="3901440" y="8509"/>
                  </a:lnTo>
                  <a:lnTo>
                    <a:pt x="3909949" y="8509"/>
                  </a:lnTo>
                  <a:lnTo>
                    <a:pt x="3909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7664201" y="4429758"/>
            <a:ext cx="274320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OpenCV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Speed norm.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Violation freq.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0705595" y="4747574"/>
            <a:ext cx="244859" cy="427739"/>
            <a:chOff x="0" y="0"/>
            <a:chExt cx="326479" cy="57031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6891" y="16891"/>
              <a:ext cx="292608" cy="536448"/>
            </a:xfrm>
            <a:custGeom>
              <a:avLst/>
              <a:gdLst/>
              <a:ahLst/>
              <a:cxnLst/>
              <a:rect r="r" b="b" t="t" l="l"/>
              <a:pathLst>
                <a:path h="53644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26390" cy="570232"/>
            </a:xfrm>
            <a:custGeom>
              <a:avLst/>
              <a:gdLst/>
              <a:ahLst/>
              <a:cxnLst/>
              <a:rect r="r" b="b" t="t" l="l"/>
              <a:pathLst>
                <a:path h="57023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553339"/>
                  </a:lnTo>
                  <a:cubicBezTo>
                    <a:pt x="326390" y="562737"/>
                    <a:pt x="318770" y="570230"/>
                    <a:pt x="309499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309499" y="536448"/>
                  </a:lnTo>
                  <a:lnTo>
                    <a:pt x="309499" y="553339"/>
                  </a:lnTo>
                  <a:lnTo>
                    <a:pt x="292608" y="553339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961627" y="2370134"/>
            <a:ext cx="3317243" cy="5328923"/>
            <a:chOff x="0" y="0"/>
            <a:chExt cx="4422991" cy="710523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4389120" cy="7071360"/>
            </a:xfrm>
            <a:custGeom>
              <a:avLst/>
              <a:gdLst/>
              <a:ahLst/>
              <a:cxnLst/>
              <a:rect r="r" b="b" t="t" l="l"/>
              <a:pathLst>
                <a:path h="7071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071360"/>
                  </a:lnTo>
                  <a:lnTo>
                    <a:pt x="0" y="7071360"/>
                  </a:lnTo>
                  <a:close/>
                </a:path>
              </a:pathLst>
            </a:custGeom>
            <a:solidFill>
              <a:srgbClr val="E65100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422902" cy="7105142"/>
            </a:xfrm>
            <a:custGeom>
              <a:avLst/>
              <a:gdLst/>
              <a:ahLst/>
              <a:cxnLst/>
              <a:rect r="r" b="b" t="t" l="l"/>
              <a:pathLst>
                <a:path h="7105142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7088251"/>
                  </a:lnTo>
                  <a:cubicBezTo>
                    <a:pt x="4422902" y="7097649"/>
                    <a:pt x="4415282" y="7105142"/>
                    <a:pt x="4406011" y="7105142"/>
                  </a:cubicBezTo>
                  <a:lnTo>
                    <a:pt x="16891" y="7105142"/>
                  </a:lnTo>
                  <a:cubicBezTo>
                    <a:pt x="7493" y="7105142"/>
                    <a:pt x="0" y="7097522"/>
                    <a:pt x="0" y="7088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088251"/>
                  </a:lnTo>
                  <a:lnTo>
                    <a:pt x="16891" y="7088251"/>
                  </a:lnTo>
                  <a:lnTo>
                    <a:pt x="16891" y="7071360"/>
                  </a:lnTo>
                  <a:lnTo>
                    <a:pt x="4406011" y="7071360"/>
                  </a:lnTo>
                  <a:lnTo>
                    <a:pt x="4406011" y="7088251"/>
                  </a:lnTo>
                  <a:lnTo>
                    <a:pt x="4389120" y="7088251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65100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974324" y="2474271"/>
            <a:ext cx="3291840" cy="1005840"/>
            <a:chOff x="0" y="0"/>
            <a:chExt cx="4389120" cy="13411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389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4389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ML MODELS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150851" y="3565198"/>
            <a:ext cx="2938777" cy="3121657"/>
            <a:chOff x="0" y="0"/>
            <a:chExt cx="3918369" cy="416220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8509" y="8509"/>
              <a:ext cx="3901440" cy="4145280"/>
            </a:xfrm>
            <a:custGeom>
              <a:avLst/>
              <a:gdLst/>
              <a:ahLst/>
              <a:cxnLst/>
              <a:rect r="r" b="b" t="t" l="l"/>
              <a:pathLst>
                <a:path h="414528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918458" cy="4162298"/>
            </a:xfrm>
            <a:custGeom>
              <a:avLst/>
              <a:gdLst/>
              <a:ahLst/>
              <a:cxnLst/>
              <a:rect r="r" b="b" t="t" l="l"/>
              <a:pathLst>
                <a:path h="4162298" w="3918458">
                  <a:moveTo>
                    <a:pt x="8509" y="0"/>
                  </a:moveTo>
                  <a:lnTo>
                    <a:pt x="3909949" y="0"/>
                  </a:lnTo>
                  <a:cubicBezTo>
                    <a:pt x="3914648" y="0"/>
                    <a:pt x="3918458" y="3810"/>
                    <a:pt x="3918458" y="8509"/>
                  </a:cubicBezTo>
                  <a:lnTo>
                    <a:pt x="3918458" y="4153789"/>
                  </a:lnTo>
                  <a:cubicBezTo>
                    <a:pt x="3918458" y="4158488"/>
                    <a:pt x="3914648" y="4162298"/>
                    <a:pt x="3909949" y="4162298"/>
                  </a:cubicBezTo>
                  <a:lnTo>
                    <a:pt x="8509" y="4162298"/>
                  </a:lnTo>
                  <a:cubicBezTo>
                    <a:pt x="3810" y="4162298"/>
                    <a:pt x="0" y="4158488"/>
                    <a:pt x="0" y="41537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153789"/>
                  </a:lnTo>
                  <a:lnTo>
                    <a:pt x="8509" y="4153789"/>
                  </a:lnTo>
                  <a:lnTo>
                    <a:pt x="8509" y="4145280"/>
                  </a:lnTo>
                  <a:lnTo>
                    <a:pt x="3909949" y="4145280"/>
                  </a:lnTo>
                  <a:lnTo>
                    <a:pt x="3909949" y="4153789"/>
                  </a:lnTo>
                  <a:lnTo>
                    <a:pt x="3901440" y="4153789"/>
                  </a:lnTo>
                  <a:lnTo>
                    <a:pt x="3901440" y="8509"/>
                  </a:lnTo>
                  <a:lnTo>
                    <a:pt x="3909949" y="8509"/>
                  </a:lnTo>
                  <a:lnTo>
                    <a:pt x="3909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11248649" y="4429758"/>
            <a:ext cx="274320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Logistic Reg.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Random Forest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Gradient Boost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4290043" y="4747574"/>
            <a:ext cx="244859" cy="427739"/>
            <a:chOff x="0" y="0"/>
            <a:chExt cx="326479" cy="57031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292608" cy="536448"/>
            </a:xfrm>
            <a:custGeom>
              <a:avLst/>
              <a:gdLst/>
              <a:ahLst/>
              <a:cxnLst/>
              <a:rect r="r" b="b" t="t" l="l"/>
              <a:pathLst>
                <a:path h="536448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26390" cy="570232"/>
            </a:xfrm>
            <a:custGeom>
              <a:avLst/>
              <a:gdLst/>
              <a:ahLst/>
              <a:cxnLst/>
              <a:rect r="r" b="b" t="t" l="l"/>
              <a:pathLst>
                <a:path h="570232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553339"/>
                  </a:lnTo>
                  <a:cubicBezTo>
                    <a:pt x="326390" y="562737"/>
                    <a:pt x="318770" y="570230"/>
                    <a:pt x="309499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309499" y="536448"/>
                  </a:lnTo>
                  <a:lnTo>
                    <a:pt x="309499" y="553339"/>
                  </a:lnTo>
                  <a:lnTo>
                    <a:pt x="292608" y="553339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4546075" y="2370134"/>
            <a:ext cx="3317243" cy="5328923"/>
            <a:chOff x="0" y="0"/>
            <a:chExt cx="4422991" cy="710523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4389120" cy="7071360"/>
            </a:xfrm>
            <a:custGeom>
              <a:avLst/>
              <a:gdLst/>
              <a:ahLst/>
              <a:cxnLst/>
              <a:rect r="r" b="b" t="t" l="l"/>
              <a:pathLst>
                <a:path h="70713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071360"/>
                  </a:lnTo>
                  <a:lnTo>
                    <a:pt x="0" y="7071360"/>
                  </a:lnTo>
                  <a:close/>
                </a:path>
              </a:pathLst>
            </a:custGeom>
            <a:solidFill>
              <a:srgbClr val="B71C1C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422902" cy="7105142"/>
            </a:xfrm>
            <a:custGeom>
              <a:avLst/>
              <a:gdLst/>
              <a:ahLst/>
              <a:cxnLst/>
              <a:rect r="r" b="b" t="t" l="l"/>
              <a:pathLst>
                <a:path h="7105142" w="4422902">
                  <a:moveTo>
                    <a:pt x="16891" y="0"/>
                  </a:moveTo>
                  <a:lnTo>
                    <a:pt x="4406011" y="0"/>
                  </a:lnTo>
                  <a:cubicBezTo>
                    <a:pt x="4415409" y="0"/>
                    <a:pt x="4422902" y="7620"/>
                    <a:pt x="4422902" y="16891"/>
                  </a:cubicBezTo>
                  <a:lnTo>
                    <a:pt x="4422902" y="7088251"/>
                  </a:lnTo>
                  <a:cubicBezTo>
                    <a:pt x="4422902" y="7097649"/>
                    <a:pt x="4415282" y="7105142"/>
                    <a:pt x="4406011" y="7105142"/>
                  </a:cubicBezTo>
                  <a:lnTo>
                    <a:pt x="16891" y="7105142"/>
                  </a:lnTo>
                  <a:cubicBezTo>
                    <a:pt x="7493" y="7105142"/>
                    <a:pt x="0" y="7097522"/>
                    <a:pt x="0" y="7088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088251"/>
                  </a:lnTo>
                  <a:lnTo>
                    <a:pt x="16891" y="7088251"/>
                  </a:lnTo>
                  <a:lnTo>
                    <a:pt x="16891" y="7071360"/>
                  </a:lnTo>
                  <a:lnTo>
                    <a:pt x="4406011" y="7071360"/>
                  </a:lnTo>
                  <a:lnTo>
                    <a:pt x="4406011" y="7088251"/>
                  </a:lnTo>
                  <a:lnTo>
                    <a:pt x="4389120" y="7088251"/>
                  </a:lnTo>
                  <a:lnTo>
                    <a:pt x="4389120" y="16891"/>
                  </a:lnTo>
                  <a:lnTo>
                    <a:pt x="4406011" y="16891"/>
                  </a:lnTo>
                  <a:lnTo>
                    <a:pt x="4406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71C1C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4558772" y="2474271"/>
            <a:ext cx="3291840" cy="1005840"/>
            <a:chOff x="0" y="0"/>
            <a:chExt cx="4389120" cy="13411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389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69" r="0" b="-13769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4389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19"/>
                </a:lnSpc>
              </a:pPr>
              <a:r>
                <a:rPr lang="en-US" sz="20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PREDICTION &amp; OUTPUT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4735299" y="3565198"/>
            <a:ext cx="2938777" cy="3121657"/>
            <a:chOff x="0" y="0"/>
            <a:chExt cx="3918369" cy="416220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8509" y="8509"/>
              <a:ext cx="3901440" cy="4145280"/>
            </a:xfrm>
            <a:custGeom>
              <a:avLst/>
              <a:gdLst/>
              <a:ahLst/>
              <a:cxnLst/>
              <a:rect r="r" b="b" t="t" l="l"/>
              <a:pathLst>
                <a:path h="414528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918458" cy="4162298"/>
            </a:xfrm>
            <a:custGeom>
              <a:avLst/>
              <a:gdLst/>
              <a:ahLst/>
              <a:cxnLst/>
              <a:rect r="r" b="b" t="t" l="l"/>
              <a:pathLst>
                <a:path h="4162298" w="3918458">
                  <a:moveTo>
                    <a:pt x="8509" y="0"/>
                  </a:moveTo>
                  <a:lnTo>
                    <a:pt x="3909949" y="0"/>
                  </a:lnTo>
                  <a:cubicBezTo>
                    <a:pt x="3914648" y="0"/>
                    <a:pt x="3918458" y="3810"/>
                    <a:pt x="3918458" y="8509"/>
                  </a:cubicBezTo>
                  <a:lnTo>
                    <a:pt x="3918458" y="4153789"/>
                  </a:lnTo>
                  <a:cubicBezTo>
                    <a:pt x="3918458" y="4158488"/>
                    <a:pt x="3914648" y="4162298"/>
                    <a:pt x="3909949" y="4162298"/>
                  </a:cubicBezTo>
                  <a:lnTo>
                    <a:pt x="8509" y="4162298"/>
                  </a:lnTo>
                  <a:cubicBezTo>
                    <a:pt x="3810" y="4162298"/>
                    <a:pt x="0" y="4158488"/>
                    <a:pt x="0" y="41537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153789"/>
                  </a:lnTo>
                  <a:lnTo>
                    <a:pt x="8509" y="4153789"/>
                  </a:lnTo>
                  <a:lnTo>
                    <a:pt x="8509" y="4145280"/>
                  </a:lnTo>
                  <a:lnTo>
                    <a:pt x="3909949" y="4145280"/>
                  </a:lnTo>
                  <a:lnTo>
                    <a:pt x="3909949" y="4153789"/>
                  </a:lnTo>
                  <a:lnTo>
                    <a:pt x="3901440" y="4153789"/>
                  </a:lnTo>
                  <a:lnTo>
                    <a:pt x="3901440" y="8509"/>
                  </a:lnTo>
                  <a:lnTo>
                    <a:pt x="3909949" y="8509"/>
                  </a:lnTo>
                  <a:lnTo>
                    <a:pt x="3909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6" id="76"/>
          <p:cNvSpPr txBox="true"/>
          <p:nvPr/>
        </p:nvSpPr>
        <p:spPr>
          <a:xfrm rot="0">
            <a:off x="14833097" y="4429758"/>
            <a:ext cx="274320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Risk Score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Heatmap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Alerts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535943" y="7919399"/>
            <a:ext cx="17289275" cy="1338901"/>
            <a:chOff x="0" y="0"/>
            <a:chExt cx="23052367" cy="178520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963" y="12830"/>
              <a:ext cx="23018352" cy="1759474"/>
            </a:xfrm>
            <a:custGeom>
              <a:avLst/>
              <a:gdLst/>
              <a:ahLst/>
              <a:cxnLst/>
              <a:rect r="r" b="b" t="t" l="l"/>
              <a:pathLst>
                <a:path h="1759474" w="23018352">
                  <a:moveTo>
                    <a:pt x="0" y="0"/>
                  </a:moveTo>
                  <a:lnTo>
                    <a:pt x="23018352" y="0"/>
                  </a:lnTo>
                  <a:lnTo>
                    <a:pt x="23018352" y="1759474"/>
                  </a:lnTo>
                  <a:lnTo>
                    <a:pt x="0" y="1759474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3052278" cy="1785133"/>
            </a:xfrm>
            <a:custGeom>
              <a:avLst/>
              <a:gdLst/>
              <a:ahLst/>
              <a:cxnLst/>
              <a:rect r="r" b="b" t="t" l="l"/>
              <a:pathLst>
                <a:path h="1785133" w="23052278">
                  <a:moveTo>
                    <a:pt x="16963" y="0"/>
                  </a:moveTo>
                  <a:lnTo>
                    <a:pt x="23035315" y="0"/>
                  </a:lnTo>
                  <a:cubicBezTo>
                    <a:pt x="23044753" y="0"/>
                    <a:pt x="23052278" y="5788"/>
                    <a:pt x="23052278" y="12830"/>
                  </a:cubicBezTo>
                  <a:lnTo>
                    <a:pt x="23052278" y="1772304"/>
                  </a:lnTo>
                  <a:cubicBezTo>
                    <a:pt x="23052278" y="1779442"/>
                    <a:pt x="23044626" y="1785133"/>
                    <a:pt x="23035315" y="1785133"/>
                  </a:cubicBezTo>
                  <a:lnTo>
                    <a:pt x="16963" y="1785133"/>
                  </a:lnTo>
                  <a:cubicBezTo>
                    <a:pt x="7525" y="1785133"/>
                    <a:pt x="0" y="1779345"/>
                    <a:pt x="0" y="1772304"/>
                  </a:cubicBezTo>
                  <a:lnTo>
                    <a:pt x="0" y="12830"/>
                  </a:lnTo>
                  <a:cubicBezTo>
                    <a:pt x="0" y="5788"/>
                    <a:pt x="7652" y="0"/>
                    <a:pt x="16963" y="0"/>
                  </a:cubicBezTo>
                  <a:moveTo>
                    <a:pt x="16963" y="25755"/>
                  </a:moveTo>
                  <a:lnTo>
                    <a:pt x="16963" y="12830"/>
                  </a:lnTo>
                  <a:lnTo>
                    <a:pt x="34053" y="12830"/>
                  </a:lnTo>
                  <a:lnTo>
                    <a:pt x="34053" y="1772304"/>
                  </a:lnTo>
                  <a:lnTo>
                    <a:pt x="16963" y="1772304"/>
                  </a:lnTo>
                  <a:lnTo>
                    <a:pt x="16963" y="1759474"/>
                  </a:lnTo>
                  <a:lnTo>
                    <a:pt x="23035315" y="1759474"/>
                  </a:lnTo>
                  <a:lnTo>
                    <a:pt x="23035315" y="1772304"/>
                  </a:lnTo>
                  <a:lnTo>
                    <a:pt x="23018353" y="1772304"/>
                  </a:lnTo>
                  <a:lnTo>
                    <a:pt x="23018353" y="12830"/>
                  </a:lnTo>
                  <a:lnTo>
                    <a:pt x="23035315" y="12830"/>
                  </a:lnTo>
                  <a:lnTo>
                    <a:pt x="23035315" y="25755"/>
                  </a:lnTo>
                  <a:lnTo>
                    <a:pt x="16963" y="25755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731520" y="8023536"/>
            <a:ext cx="1828800" cy="640080"/>
            <a:chOff x="0" y="0"/>
            <a:chExt cx="2438400" cy="853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438400" cy="853440"/>
            </a:xfrm>
            <a:custGeom>
              <a:avLst/>
              <a:gdLst/>
              <a:ahLst/>
              <a:cxnLst/>
              <a:rect r="r" b="b" t="t" l="l"/>
              <a:pathLst>
                <a:path h="8534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24384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OUTPUT: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2022481" y="8195243"/>
            <a:ext cx="354587" cy="354587"/>
            <a:chOff x="0" y="0"/>
            <a:chExt cx="472783" cy="47278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2437514" y="8061636"/>
            <a:ext cx="2743200" cy="689148"/>
            <a:chOff x="0" y="0"/>
            <a:chExt cx="3657600" cy="91886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657600" cy="918865"/>
            </a:xfrm>
            <a:custGeom>
              <a:avLst/>
              <a:gdLst/>
              <a:ahLst/>
              <a:cxnLst/>
              <a:rect r="r" b="b" t="t" l="l"/>
              <a:pathLst>
                <a:path h="91886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18865"/>
                  </a:lnTo>
                  <a:lnTo>
                    <a:pt x="0" y="9188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94" r="0" b="-25328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3657600" cy="96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Violation Probability</a:t>
              </a:r>
            </a:p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(0–1)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218814" y="8195243"/>
            <a:ext cx="354587" cy="354587"/>
            <a:chOff x="0" y="0"/>
            <a:chExt cx="472783" cy="47278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5633847" y="8061636"/>
            <a:ext cx="2743200" cy="689148"/>
            <a:chOff x="0" y="0"/>
            <a:chExt cx="3657600" cy="91886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657600" cy="918865"/>
            </a:xfrm>
            <a:custGeom>
              <a:avLst/>
              <a:gdLst/>
              <a:ahLst/>
              <a:cxnLst/>
              <a:rect r="r" b="b" t="t" l="l"/>
              <a:pathLst>
                <a:path h="91886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18865"/>
                  </a:lnTo>
                  <a:lnTo>
                    <a:pt x="0" y="9188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94" r="0" b="-25328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3657600" cy="96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Risk Zone: Low / </a:t>
              </a:r>
            </a:p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Medium / High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8303009" y="8195243"/>
            <a:ext cx="354587" cy="354587"/>
            <a:chOff x="0" y="0"/>
            <a:chExt cx="472783" cy="472783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8718042" y="8061636"/>
            <a:ext cx="2743200" cy="689148"/>
            <a:chOff x="0" y="0"/>
            <a:chExt cx="3657600" cy="91886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657600" cy="918865"/>
            </a:xfrm>
            <a:custGeom>
              <a:avLst/>
              <a:gdLst/>
              <a:ahLst/>
              <a:cxnLst/>
              <a:rect r="r" b="b" t="t" l="l"/>
              <a:pathLst>
                <a:path h="91886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18865"/>
                  </a:lnTo>
                  <a:lnTo>
                    <a:pt x="0" y="9188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94" r="0" b="-25328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3657600" cy="96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High-Risk Road Segments List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1410321" y="8195243"/>
            <a:ext cx="354587" cy="354587"/>
            <a:chOff x="0" y="0"/>
            <a:chExt cx="472783" cy="472783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1825354" y="8061636"/>
            <a:ext cx="2743200" cy="689148"/>
            <a:chOff x="0" y="0"/>
            <a:chExt cx="3657600" cy="918865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657600" cy="918865"/>
            </a:xfrm>
            <a:custGeom>
              <a:avLst/>
              <a:gdLst/>
              <a:ahLst/>
              <a:cxnLst/>
              <a:rect r="r" b="b" t="t" l="l"/>
              <a:pathLst>
                <a:path h="91886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18865"/>
                  </a:lnTo>
                  <a:lnTo>
                    <a:pt x="0" y="9188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94" r="0" b="-25328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3657600" cy="96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Violation Heatmaps &amp; Trend Charts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4318999" y="8195243"/>
            <a:ext cx="354587" cy="354587"/>
            <a:chOff x="0" y="0"/>
            <a:chExt cx="472783" cy="47278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4734032" y="8061636"/>
            <a:ext cx="2743200" cy="689148"/>
            <a:chOff x="0" y="0"/>
            <a:chExt cx="3657600" cy="918865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657600" cy="918865"/>
            </a:xfrm>
            <a:custGeom>
              <a:avLst/>
              <a:gdLst/>
              <a:ahLst/>
              <a:cxnLst/>
              <a:rect r="r" b="b" t="t" l="l"/>
              <a:pathLst>
                <a:path h="91886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18865"/>
                  </a:lnTo>
                  <a:lnTo>
                    <a:pt x="0" y="9188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794" r="0" b="-25328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3657600" cy="96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Metrics: Accuracy / F1 / ROC-AUC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393" y="9898447"/>
            <a:ext cx="18197512" cy="323850"/>
            <a:chOff x="0" y="0"/>
            <a:chExt cx="24263350" cy="431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63350" cy="431800"/>
            </a:xfrm>
            <a:custGeom>
              <a:avLst/>
              <a:gdLst/>
              <a:ahLst/>
              <a:cxnLst/>
              <a:rect r="r" b="b" t="t" l="l"/>
              <a:pathLst>
                <a:path h="431800" w="24263350">
                  <a:moveTo>
                    <a:pt x="0" y="0"/>
                  </a:moveTo>
                  <a:lnTo>
                    <a:pt x="24263350" y="0"/>
                  </a:lnTo>
                  <a:lnTo>
                    <a:pt x="24263350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name="Group 4" id="4"/>
          <p:cNvGrpSpPr/>
          <p:nvPr/>
        </p:nvGrpSpPr>
        <p:grpSpPr>
          <a:xfrm rot="22320">
            <a:off x="419795" y="1524371"/>
            <a:ext cx="17674009" cy="57150"/>
            <a:chOff x="0" y="0"/>
            <a:chExt cx="23565345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65358" cy="76200"/>
            </a:xfrm>
            <a:custGeom>
              <a:avLst/>
              <a:gdLst/>
              <a:ahLst/>
              <a:cxnLst/>
              <a:rect r="r" b="b" t="t" l="l"/>
              <a:pathLst>
                <a:path h="76200" w="23565358">
                  <a:moveTo>
                    <a:pt x="38100" y="0"/>
                  </a:moveTo>
                  <a:lnTo>
                    <a:pt x="23527258" y="0"/>
                  </a:lnTo>
                  <a:cubicBezTo>
                    <a:pt x="23548341" y="0"/>
                    <a:pt x="23565358" y="17018"/>
                    <a:pt x="23565358" y="38100"/>
                  </a:cubicBezTo>
                  <a:cubicBezTo>
                    <a:pt x="23565358" y="59182"/>
                    <a:pt x="23548341" y="76200"/>
                    <a:pt x="23527258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ubicBezTo>
                    <a:pt x="0" y="17018"/>
                    <a:pt x="17018" y="0"/>
                    <a:pt x="38100" y="0"/>
                  </a:cubicBez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26930" y="9622222"/>
            <a:ext cx="18459450" cy="171450"/>
            <a:chOff x="0" y="0"/>
            <a:chExt cx="24612600" cy="228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1" y="-1"/>
              <a:ext cx="24612601" cy="228601"/>
            </a:xfrm>
            <a:custGeom>
              <a:avLst/>
              <a:gdLst/>
              <a:ahLst/>
              <a:cxnLst/>
              <a:rect r="r" b="b" t="t" l="l"/>
              <a:pathLst>
                <a:path h="228601" w="24612601">
                  <a:moveTo>
                    <a:pt x="38355" y="1"/>
                  </a:moveTo>
                  <a:lnTo>
                    <a:pt x="24574755" y="152401"/>
                  </a:lnTo>
                  <a:cubicBezTo>
                    <a:pt x="24595838" y="152528"/>
                    <a:pt x="24612728" y="169673"/>
                    <a:pt x="24612601" y="190755"/>
                  </a:cubicBezTo>
                  <a:cubicBezTo>
                    <a:pt x="24612474" y="211837"/>
                    <a:pt x="24595329" y="228728"/>
                    <a:pt x="24574247" y="228601"/>
                  </a:cubicBezTo>
                  <a:lnTo>
                    <a:pt x="37847" y="76201"/>
                  </a:lnTo>
                  <a:cubicBezTo>
                    <a:pt x="16765" y="76074"/>
                    <a:pt x="-126" y="58929"/>
                    <a:pt x="1" y="37847"/>
                  </a:cubicBezTo>
                  <a:cubicBezTo>
                    <a:pt x="128" y="16765"/>
                    <a:pt x="17273" y="-126"/>
                    <a:pt x="38355" y="1"/>
                  </a:cubicBezTo>
                  <a:close/>
                </a:path>
              </a:pathLst>
            </a:custGeom>
            <a:solidFill>
              <a:srgbClr val="00206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962236" y="364484"/>
            <a:ext cx="14738194" cy="71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0000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Dataset Information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76869" y="9898447"/>
            <a:ext cx="10437524" cy="592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16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DEPARTMENT OF COMPUTER ENGINEERING,  Sanjivani COE, Kopargaon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608303" y="9886540"/>
            <a:ext cx="1290047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91"/>
              </a:lnSpc>
            </a:pPr>
            <a:r>
              <a:rPr lang="en-US" b="true" sz="2243" spc="20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5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524332" y="-503525"/>
            <a:ext cx="2486568" cy="2486568"/>
            <a:chOff x="0" y="0"/>
            <a:chExt cx="3315424" cy="33154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462" cy="3315462"/>
            </a:xfrm>
            <a:custGeom>
              <a:avLst/>
              <a:gdLst/>
              <a:ahLst/>
              <a:cxnLst/>
              <a:rect r="r" b="b" t="t" l="l"/>
              <a:pathLst>
                <a:path h="3315462" w="3315462">
                  <a:moveTo>
                    <a:pt x="0" y="0"/>
                  </a:moveTo>
                  <a:lnTo>
                    <a:pt x="3315462" y="0"/>
                  </a:lnTo>
                  <a:lnTo>
                    <a:pt x="3315462" y="3315462"/>
                  </a:lnTo>
                  <a:lnTo>
                    <a:pt x="0" y="33154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48640" y="1543421"/>
            <a:ext cx="17190720" cy="548640"/>
            <a:chOff x="0" y="0"/>
            <a:chExt cx="2292096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920961" cy="731520"/>
            </a:xfrm>
            <a:custGeom>
              <a:avLst/>
              <a:gdLst/>
              <a:ahLst/>
              <a:cxnLst/>
              <a:rect r="r" b="b" t="t" l="l"/>
              <a:pathLst>
                <a:path h="7315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0531" r="0" b="-56053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29209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9"/>
                </a:lnSpc>
              </a:pPr>
              <a:r>
                <a:rPr lang="en-US" sz="2299" i="true">
                  <a:solidFill>
                    <a:srgbClr val="55555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Table 1: Dataset Description</a:t>
              </a:r>
            </a:p>
          </p:txBody>
        </p:sp>
      </p:grp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914400" y="2047027"/>
          <a:ext cx="10800225" cy="7287260"/>
        </p:xfrm>
        <a:graphic>
          <a:graphicData uri="http://schemas.openxmlformats.org/drawingml/2006/table">
            <a:tbl>
              <a:tblPr/>
              <a:tblGrid>
                <a:gridCol w="5400112"/>
                <a:gridCol w="5400112"/>
              </a:tblGrid>
              <a:tr h="7111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Attribute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Details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111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Dataset Name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Traffic Violation &amp; Accident Records Dataset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8865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Source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Kaggle / City Traffic Department / Surveillance Camera Logs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111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Total Records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~50,000+ violation records (varies by city/dataset)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111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Total Features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12–16 (mixed numerical + categorical)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111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 Type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Mixed (Numerical + Categorical + Image metadata)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111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Target Variable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Violation_Risk (Low / Medium / High Zone)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111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Domain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Urban Traffic Safety / Smart City Analytics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111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Missing Values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Present – handled during preprocessing stage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7111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Usage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Training ML models for high-risk zone prediction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pSp>
        <p:nvGrpSpPr>
          <p:cNvPr name="Group 17" id="17"/>
          <p:cNvGrpSpPr/>
          <p:nvPr/>
        </p:nvGrpSpPr>
        <p:grpSpPr>
          <a:xfrm rot="0">
            <a:off x="11992471" y="1948573"/>
            <a:ext cx="5759595" cy="7609241"/>
            <a:chOff x="0" y="0"/>
            <a:chExt cx="7592911" cy="100313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559040" cy="9997440"/>
            </a:xfrm>
            <a:custGeom>
              <a:avLst/>
              <a:gdLst/>
              <a:ahLst/>
              <a:cxnLst/>
              <a:rect r="r" b="b" t="t" l="l"/>
              <a:pathLst>
                <a:path h="99974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592822" cy="10031222"/>
            </a:xfrm>
            <a:custGeom>
              <a:avLst/>
              <a:gdLst/>
              <a:ahLst/>
              <a:cxnLst/>
              <a:rect r="r" b="b" t="t" l="l"/>
              <a:pathLst>
                <a:path h="100312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0014331"/>
                  </a:lnTo>
                  <a:cubicBezTo>
                    <a:pt x="7592822" y="10023729"/>
                    <a:pt x="7585202" y="10031222"/>
                    <a:pt x="7575931" y="10031222"/>
                  </a:cubicBezTo>
                  <a:lnTo>
                    <a:pt x="16891" y="10031222"/>
                  </a:lnTo>
                  <a:cubicBezTo>
                    <a:pt x="7493" y="10031222"/>
                    <a:pt x="0" y="10023602"/>
                    <a:pt x="0" y="10014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14331"/>
                  </a:lnTo>
                  <a:lnTo>
                    <a:pt x="16891" y="10014331"/>
                  </a:lnTo>
                  <a:lnTo>
                    <a:pt x="16891" y="9997440"/>
                  </a:lnTo>
                  <a:lnTo>
                    <a:pt x="7575931" y="9997440"/>
                  </a:lnTo>
                  <a:lnTo>
                    <a:pt x="7575931" y="10014331"/>
                  </a:lnTo>
                  <a:lnTo>
                    <a:pt x="7559040" y="100143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097795" y="2035400"/>
            <a:ext cx="5548938" cy="702865"/>
            <a:chOff x="0" y="0"/>
            <a:chExt cx="7315200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0" cy="926592"/>
            </a:xfrm>
            <a:custGeom>
              <a:avLst/>
              <a:gdLst/>
              <a:ahLst/>
              <a:cxnLst/>
              <a:rect r="r" b="b" t="t" l="l"/>
              <a:pathLst>
                <a:path h="92659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3829" r="0" b="-10382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3152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Input Features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214429" y="2910389"/>
            <a:ext cx="284643" cy="432615"/>
            <a:chOff x="0" y="0"/>
            <a:chExt cx="375247" cy="5703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341376" cy="536448"/>
            </a:xfrm>
            <a:custGeom>
              <a:avLst/>
              <a:gdLst/>
              <a:ahLst/>
              <a:cxnLst/>
              <a:rect r="r" b="b" t="t" l="l"/>
              <a:pathLst>
                <a:path h="536448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5158" cy="570232"/>
            </a:xfrm>
            <a:custGeom>
              <a:avLst/>
              <a:gdLst/>
              <a:ahLst/>
              <a:cxnLst/>
              <a:rect r="r" b="b" t="t" l="l"/>
              <a:pathLst>
                <a:path h="570232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553339"/>
                  </a:lnTo>
                  <a:cubicBezTo>
                    <a:pt x="375158" y="562737"/>
                    <a:pt x="367538" y="570230"/>
                    <a:pt x="358267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358267" y="536448"/>
                  </a:lnTo>
                  <a:lnTo>
                    <a:pt x="358267" y="553339"/>
                  </a:lnTo>
                  <a:lnTo>
                    <a:pt x="341376" y="553339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597200" y="2886237"/>
            <a:ext cx="4994044" cy="517901"/>
            <a:chOff x="0" y="0"/>
            <a:chExt cx="658368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583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Traffic Density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214429" y="3724233"/>
            <a:ext cx="284643" cy="432615"/>
            <a:chOff x="0" y="0"/>
            <a:chExt cx="375247" cy="5703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341376" cy="536448"/>
            </a:xfrm>
            <a:custGeom>
              <a:avLst/>
              <a:gdLst/>
              <a:ahLst/>
              <a:cxnLst/>
              <a:rect r="r" b="b" t="t" l="l"/>
              <a:pathLst>
                <a:path h="536448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75158" cy="570232"/>
            </a:xfrm>
            <a:custGeom>
              <a:avLst/>
              <a:gdLst/>
              <a:ahLst/>
              <a:cxnLst/>
              <a:rect r="r" b="b" t="t" l="l"/>
              <a:pathLst>
                <a:path h="570232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553339"/>
                  </a:lnTo>
                  <a:cubicBezTo>
                    <a:pt x="375158" y="562737"/>
                    <a:pt x="367538" y="570230"/>
                    <a:pt x="358267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358267" y="536448"/>
                  </a:lnTo>
                  <a:lnTo>
                    <a:pt x="358267" y="553339"/>
                  </a:lnTo>
                  <a:lnTo>
                    <a:pt x="341376" y="553339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597200" y="3700081"/>
            <a:ext cx="4994044" cy="517901"/>
            <a:chOff x="0" y="0"/>
            <a:chExt cx="6583680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583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Vehicle Speed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214429" y="4538077"/>
            <a:ext cx="284643" cy="432615"/>
            <a:chOff x="0" y="0"/>
            <a:chExt cx="375247" cy="57031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341376" cy="536448"/>
            </a:xfrm>
            <a:custGeom>
              <a:avLst/>
              <a:gdLst/>
              <a:ahLst/>
              <a:cxnLst/>
              <a:rect r="r" b="b" t="t" l="l"/>
              <a:pathLst>
                <a:path h="536448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75158" cy="570232"/>
            </a:xfrm>
            <a:custGeom>
              <a:avLst/>
              <a:gdLst/>
              <a:ahLst/>
              <a:cxnLst/>
              <a:rect r="r" b="b" t="t" l="l"/>
              <a:pathLst>
                <a:path h="570232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553339"/>
                  </a:lnTo>
                  <a:cubicBezTo>
                    <a:pt x="375158" y="562737"/>
                    <a:pt x="367538" y="570230"/>
                    <a:pt x="358267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358267" y="536448"/>
                  </a:lnTo>
                  <a:lnTo>
                    <a:pt x="358267" y="553339"/>
                  </a:lnTo>
                  <a:lnTo>
                    <a:pt x="341376" y="553339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597200" y="4513926"/>
            <a:ext cx="4994044" cy="517901"/>
            <a:chOff x="0" y="0"/>
            <a:chExt cx="658368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583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 of Day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214429" y="5351921"/>
            <a:ext cx="284643" cy="432615"/>
            <a:chOff x="0" y="0"/>
            <a:chExt cx="375247" cy="57031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341376" cy="536448"/>
            </a:xfrm>
            <a:custGeom>
              <a:avLst/>
              <a:gdLst/>
              <a:ahLst/>
              <a:cxnLst/>
              <a:rect r="r" b="b" t="t" l="l"/>
              <a:pathLst>
                <a:path h="536448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75158" cy="570232"/>
            </a:xfrm>
            <a:custGeom>
              <a:avLst/>
              <a:gdLst/>
              <a:ahLst/>
              <a:cxnLst/>
              <a:rect r="r" b="b" t="t" l="l"/>
              <a:pathLst>
                <a:path h="570232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553339"/>
                  </a:lnTo>
                  <a:cubicBezTo>
                    <a:pt x="375158" y="562737"/>
                    <a:pt x="367538" y="570230"/>
                    <a:pt x="358267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358267" y="536448"/>
                  </a:lnTo>
                  <a:lnTo>
                    <a:pt x="358267" y="553339"/>
                  </a:lnTo>
                  <a:lnTo>
                    <a:pt x="341376" y="553339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597200" y="5327770"/>
            <a:ext cx="4994044" cy="517901"/>
            <a:chOff x="0" y="0"/>
            <a:chExt cx="658368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583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Weather Conditions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214429" y="6165765"/>
            <a:ext cx="284643" cy="432615"/>
            <a:chOff x="0" y="0"/>
            <a:chExt cx="375247" cy="57031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341376" cy="536448"/>
            </a:xfrm>
            <a:custGeom>
              <a:avLst/>
              <a:gdLst/>
              <a:ahLst/>
              <a:cxnLst/>
              <a:rect r="r" b="b" t="t" l="l"/>
              <a:pathLst>
                <a:path h="536448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75158" cy="570232"/>
            </a:xfrm>
            <a:custGeom>
              <a:avLst/>
              <a:gdLst/>
              <a:ahLst/>
              <a:cxnLst/>
              <a:rect r="r" b="b" t="t" l="l"/>
              <a:pathLst>
                <a:path h="570232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553339"/>
                  </a:lnTo>
                  <a:cubicBezTo>
                    <a:pt x="375158" y="562737"/>
                    <a:pt x="367538" y="570230"/>
                    <a:pt x="358267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358267" y="536448"/>
                  </a:lnTo>
                  <a:lnTo>
                    <a:pt x="358267" y="553339"/>
                  </a:lnTo>
                  <a:lnTo>
                    <a:pt x="341376" y="553339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597200" y="6141614"/>
            <a:ext cx="4994044" cy="517901"/>
            <a:chOff x="0" y="0"/>
            <a:chExt cx="6583680" cy="6827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6583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Camera Violation Logs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214429" y="6979610"/>
            <a:ext cx="284643" cy="432615"/>
            <a:chOff x="0" y="0"/>
            <a:chExt cx="375247" cy="57031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341376" cy="536448"/>
            </a:xfrm>
            <a:custGeom>
              <a:avLst/>
              <a:gdLst/>
              <a:ahLst/>
              <a:cxnLst/>
              <a:rect r="r" b="b" t="t" l="l"/>
              <a:pathLst>
                <a:path h="536448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75158" cy="570232"/>
            </a:xfrm>
            <a:custGeom>
              <a:avLst/>
              <a:gdLst/>
              <a:ahLst/>
              <a:cxnLst/>
              <a:rect r="r" b="b" t="t" l="l"/>
              <a:pathLst>
                <a:path h="570232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553339"/>
                  </a:lnTo>
                  <a:cubicBezTo>
                    <a:pt x="375158" y="562737"/>
                    <a:pt x="367538" y="570230"/>
                    <a:pt x="358267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358267" y="536448"/>
                  </a:lnTo>
                  <a:lnTo>
                    <a:pt x="358267" y="553339"/>
                  </a:lnTo>
                  <a:lnTo>
                    <a:pt x="341376" y="553339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597200" y="6955458"/>
            <a:ext cx="4994044" cy="517901"/>
            <a:chOff x="0" y="0"/>
            <a:chExt cx="6583680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583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Past Accident History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214429" y="7793454"/>
            <a:ext cx="284643" cy="432615"/>
            <a:chOff x="0" y="0"/>
            <a:chExt cx="375247" cy="57031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341376" cy="536448"/>
            </a:xfrm>
            <a:custGeom>
              <a:avLst/>
              <a:gdLst/>
              <a:ahLst/>
              <a:cxnLst/>
              <a:rect r="r" b="b" t="t" l="l"/>
              <a:pathLst>
                <a:path h="536448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75158" cy="570232"/>
            </a:xfrm>
            <a:custGeom>
              <a:avLst/>
              <a:gdLst/>
              <a:ahLst/>
              <a:cxnLst/>
              <a:rect r="r" b="b" t="t" l="l"/>
              <a:pathLst>
                <a:path h="570232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553339"/>
                  </a:lnTo>
                  <a:cubicBezTo>
                    <a:pt x="375158" y="562737"/>
                    <a:pt x="367538" y="570230"/>
                    <a:pt x="358267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358267" y="536448"/>
                  </a:lnTo>
                  <a:lnTo>
                    <a:pt x="358267" y="553339"/>
                  </a:lnTo>
                  <a:lnTo>
                    <a:pt x="341376" y="553339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597200" y="7769302"/>
            <a:ext cx="4994044" cy="517901"/>
            <a:chOff x="0" y="0"/>
            <a:chExt cx="6583680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6583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Road Category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214429" y="8607298"/>
            <a:ext cx="284643" cy="432615"/>
            <a:chOff x="0" y="0"/>
            <a:chExt cx="375247" cy="57031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341376" cy="536448"/>
            </a:xfrm>
            <a:custGeom>
              <a:avLst/>
              <a:gdLst/>
              <a:ahLst/>
              <a:cxnLst/>
              <a:rect r="r" b="b" t="t" l="l"/>
              <a:pathLst>
                <a:path h="536448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75158" cy="570232"/>
            </a:xfrm>
            <a:custGeom>
              <a:avLst/>
              <a:gdLst/>
              <a:ahLst/>
              <a:cxnLst/>
              <a:rect r="r" b="b" t="t" l="l"/>
              <a:pathLst>
                <a:path h="570232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553339"/>
                  </a:lnTo>
                  <a:cubicBezTo>
                    <a:pt x="375158" y="562737"/>
                    <a:pt x="367538" y="570230"/>
                    <a:pt x="358267" y="570230"/>
                  </a:cubicBezTo>
                  <a:lnTo>
                    <a:pt x="16891" y="570230"/>
                  </a:lnTo>
                  <a:cubicBezTo>
                    <a:pt x="7620" y="570357"/>
                    <a:pt x="0" y="562737"/>
                    <a:pt x="0" y="553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16891" y="536448"/>
                  </a:lnTo>
                  <a:lnTo>
                    <a:pt x="358267" y="536448"/>
                  </a:lnTo>
                  <a:lnTo>
                    <a:pt x="358267" y="553339"/>
                  </a:lnTo>
                  <a:lnTo>
                    <a:pt x="341376" y="553339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2597200" y="8583147"/>
            <a:ext cx="4994044" cy="517901"/>
            <a:chOff x="0" y="0"/>
            <a:chExt cx="6583680" cy="6827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6583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Signal Timing Data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393" y="9898447"/>
            <a:ext cx="18197512" cy="323850"/>
            <a:chOff x="0" y="0"/>
            <a:chExt cx="24263350" cy="431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63350" cy="431800"/>
            </a:xfrm>
            <a:custGeom>
              <a:avLst/>
              <a:gdLst/>
              <a:ahLst/>
              <a:cxnLst/>
              <a:rect r="r" b="b" t="t" l="l"/>
              <a:pathLst>
                <a:path h="431800" w="24263350">
                  <a:moveTo>
                    <a:pt x="0" y="0"/>
                  </a:moveTo>
                  <a:lnTo>
                    <a:pt x="24263350" y="0"/>
                  </a:lnTo>
                  <a:lnTo>
                    <a:pt x="24263350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name="Group 4" id="4"/>
          <p:cNvGrpSpPr/>
          <p:nvPr/>
        </p:nvGrpSpPr>
        <p:grpSpPr>
          <a:xfrm rot="22320">
            <a:off x="419795" y="1524371"/>
            <a:ext cx="17674009" cy="57150"/>
            <a:chOff x="0" y="0"/>
            <a:chExt cx="23565345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65358" cy="76200"/>
            </a:xfrm>
            <a:custGeom>
              <a:avLst/>
              <a:gdLst/>
              <a:ahLst/>
              <a:cxnLst/>
              <a:rect r="r" b="b" t="t" l="l"/>
              <a:pathLst>
                <a:path h="76200" w="23565358">
                  <a:moveTo>
                    <a:pt x="38100" y="0"/>
                  </a:moveTo>
                  <a:lnTo>
                    <a:pt x="23527258" y="0"/>
                  </a:lnTo>
                  <a:cubicBezTo>
                    <a:pt x="23548341" y="0"/>
                    <a:pt x="23565358" y="17018"/>
                    <a:pt x="23565358" y="38100"/>
                  </a:cubicBezTo>
                  <a:cubicBezTo>
                    <a:pt x="23565358" y="59182"/>
                    <a:pt x="23548341" y="76200"/>
                    <a:pt x="23527258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ubicBezTo>
                    <a:pt x="0" y="17018"/>
                    <a:pt x="17018" y="0"/>
                    <a:pt x="38100" y="0"/>
                  </a:cubicBez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26930" y="9622222"/>
            <a:ext cx="18459450" cy="171450"/>
            <a:chOff x="0" y="0"/>
            <a:chExt cx="24612600" cy="228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1" y="-1"/>
              <a:ext cx="24612601" cy="228601"/>
            </a:xfrm>
            <a:custGeom>
              <a:avLst/>
              <a:gdLst/>
              <a:ahLst/>
              <a:cxnLst/>
              <a:rect r="r" b="b" t="t" l="l"/>
              <a:pathLst>
                <a:path h="228601" w="24612601">
                  <a:moveTo>
                    <a:pt x="38355" y="1"/>
                  </a:moveTo>
                  <a:lnTo>
                    <a:pt x="24574755" y="152401"/>
                  </a:lnTo>
                  <a:cubicBezTo>
                    <a:pt x="24595838" y="152528"/>
                    <a:pt x="24612728" y="169673"/>
                    <a:pt x="24612601" y="190755"/>
                  </a:cubicBezTo>
                  <a:cubicBezTo>
                    <a:pt x="24612474" y="211837"/>
                    <a:pt x="24595329" y="228728"/>
                    <a:pt x="24574247" y="228601"/>
                  </a:cubicBezTo>
                  <a:lnTo>
                    <a:pt x="37847" y="76201"/>
                  </a:lnTo>
                  <a:cubicBezTo>
                    <a:pt x="16765" y="76074"/>
                    <a:pt x="-126" y="58929"/>
                    <a:pt x="1" y="37847"/>
                  </a:cubicBezTo>
                  <a:cubicBezTo>
                    <a:pt x="128" y="16765"/>
                    <a:pt x="17273" y="-126"/>
                    <a:pt x="38355" y="1"/>
                  </a:cubicBezTo>
                  <a:close/>
                </a:path>
              </a:pathLst>
            </a:custGeom>
            <a:solidFill>
              <a:srgbClr val="00206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962236" y="364484"/>
            <a:ext cx="11711940" cy="76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0000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Working Traffic Violation Prediction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76869" y="9898447"/>
            <a:ext cx="10437524" cy="592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16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DEPARTMENT OF COMPUTER ENGINEERING,  Sanjivani COE, Kopargaon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608303" y="9886540"/>
            <a:ext cx="1290047" cy="33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91"/>
              </a:lnSpc>
            </a:pPr>
            <a:r>
              <a:rPr lang="en-US" b="true" sz="2243" spc="20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5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524332" y="-475512"/>
            <a:ext cx="2486568" cy="2486568"/>
            <a:chOff x="0" y="0"/>
            <a:chExt cx="3315424" cy="33154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5462" cy="3315462"/>
            </a:xfrm>
            <a:custGeom>
              <a:avLst/>
              <a:gdLst/>
              <a:ahLst/>
              <a:cxnLst/>
              <a:rect r="r" b="b" t="t" l="l"/>
              <a:pathLst>
                <a:path h="3315462" w="3315462">
                  <a:moveTo>
                    <a:pt x="0" y="0"/>
                  </a:moveTo>
                  <a:lnTo>
                    <a:pt x="3315462" y="0"/>
                  </a:lnTo>
                  <a:lnTo>
                    <a:pt x="3315462" y="3315462"/>
                  </a:lnTo>
                  <a:lnTo>
                    <a:pt x="0" y="33154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48640" y="1552946"/>
            <a:ext cx="17190720" cy="548640"/>
            <a:chOff x="0" y="0"/>
            <a:chExt cx="2292096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920961" cy="731520"/>
            </a:xfrm>
            <a:custGeom>
              <a:avLst/>
              <a:gdLst/>
              <a:ahLst/>
              <a:cxnLst/>
              <a:rect r="r" b="b" t="t" l="l"/>
              <a:pathLst>
                <a:path h="7315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0531" r="0" b="-56053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29209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9"/>
                </a:lnSpc>
              </a:pPr>
              <a:r>
                <a:rPr lang="en-US" sz="2299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Traffic Violation Prediction &amp; High-Risk Zone Identification Pipeline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35943" y="2220601"/>
            <a:ext cx="3865883" cy="1342139"/>
            <a:chOff x="0" y="0"/>
            <a:chExt cx="5154511" cy="17895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51206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54422" cy="1789430"/>
            </a:xfrm>
            <a:custGeom>
              <a:avLst/>
              <a:gdLst/>
              <a:ahLst/>
              <a:cxnLst/>
              <a:rect r="r" b="b" t="t" l="l"/>
              <a:pathLst>
                <a:path h="178943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772539"/>
                  </a:lnTo>
                  <a:cubicBezTo>
                    <a:pt x="5154422" y="1781937"/>
                    <a:pt x="5146802" y="1789430"/>
                    <a:pt x="513753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5137531" y="1755648"/>
                  </a:lnTo>
                  <a:lnTo>
                    <a:pt x="5137531" y="1772539"/>
                  </a:lnTo>
                  <a:lnTo>
                    <a:pt x="5120640" y="1772539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48640" y="2233298"/>
            <a:ext cx="3840480" cy="1316736"/>
            <a:chOff x="0" y="0"/>
            <a:chExt cx="5120640" cy="17556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206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12064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Raw Traffic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Violation Records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888487" y="2220601"/>
            <a:ext cx="3865883" cy="1342139"/>
            <a:chOff x="0" y="0"/>
            <a:chExt cx="5154511" cy="178951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51206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54422" cy="1789430"/>
            </a:xfrm>
            <a:custGeom>
              <a:avLst/>
              <a:gdLst/>
              <a:ahLst/>
              <a:cxnLst/>
              <a:rect r="r" b="b" t="t" l="l"/>
              <a:pathLst>
                <a:path h="178943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772539"/>
                  </a:lnTo>
                  <a:cubicBezTo>
                    <a:pt x="5154422" y="1781937"/>
                    <a:pt x="5146802" y="1789430"/>
                    <a:pt x="513753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5137531" y="1755648"/>
                  </a:lnTo>
                  <a:lnTo>
                    <a:pt x="5137531" y="1772539"/>
                  </a:lnTo>
                  <a:lnTo>
                    <a:pt x="5120640" y="1772539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4901184" y="2233298"/>
            <a:ext cx="3840480" cy="1316736"/>
            <a:chOff x="0" y="0"/>
            <a:chExt cx="5120640" cy="17556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206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12064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Surveillance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Camera Footage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241031" y="2220601"/>
            <a:ext cx="3865883" cy="1342139"/>
            <a:chOff x="0" y="0"/>
            <a:chExt cx="5154511" cy="178951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51206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54422" cy="1789430"/>
            </a:xfrm>
            <a:custGeom>
              <a:avLst/>
              <a:gdLst/>
              <a:ahLst/>
              <a:cxnLst/>
              <a:rect r="r" b="b" t="t" l="l"/>
              <a:pathLst>
                <a:path h="178943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772539"/>
                  </a:lnTo>
                  <a:cubicBezTo>
                    <a:pt x="5154422" y="1781937"/>
                    <a:pt x="5146802" y="1789430"/>
                    <a:pt x="513753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5137531" y="1755648"/>
                  </a:lnTo>
                  <a:lnTo>
                    <a:pt x="5137531" y="1772539"/>
                  </a:lnTo>
                  <a:lnTo>
                    <a:pt x="5120640" y="1772539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253728" y="2233298"/>
            <a:ext cx="3840480" cy="1316736"/>
            <a:chOff x="0" y="0"/>
            <a:chExt cx="5120640" cy="17556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206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512064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Speed &amp;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Density Sensors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593575" y="2220601"/>
            <a:ext cx="3865883" cy="1342139"/>
            <a:chOff x="0" y="0"/>
            <a:chExt cx="5154511" cy="178951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51206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54422" cy="1789430"/>
            </a:xfrm>
            <a:custGeom>
              <a:avLst/>
              <a:gdLst/>
              <a:ahLst/>
              <a:cxnLst/>
              <a:rect r="r" b="b" t="t" l="l"/>
              <a:pathLst>
                <a:path h="178943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772539"/>
                  </a:lnTo>
                  <a:cubicBezTo>
                    <a:pt x="5154422" y="1781937"/>
                    <a:pt x="5146802" y="1789430"/>
                    <a:pt x="513753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5137531" y="1755648"/>
                  </a:lnTo>
                  <a:lnTo>
                    <a:pt x="5137531" y="1772539"/>
                  </a:lnTo>
                  <a:lnTo>
                    <a:pt x="5120640" y="1772539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606272" y="2233298"/>
            <a:ext cx="3840480" cy="1316736"/>
            <a:chOff x="0" y="0"/>
            <a:chExt cx="5120640" cy="175564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206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12064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Weather &amp;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 Data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728967" y="3537337"/>
            <a:ext cx="830075" cy="574043"/>
            <a:chOff x="0" y="0"/>
            <a:chExt cx="1106767" cy="76539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1072896" cy="731520"/>
            </a:xfrm>
            <a:custGeom>
              <a:avLst/>
              <a:gdLst/>
              <a:ahLst/>
              <a:cxnLst/>
              <a:rect r="r" b="b" t="t" l="l"/>
              <a:pathLst>
                <a:path h="731520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06678" cy="765304"/>
            </a:xfrm>
            <a:custGeom>
              <a:avLst/>
              <a:gdLst/>
              <a:ahLst/>
              <a:cxnLst/>
              <a:rect r="r" b="b" t="t" l="l"/>
              <a:pathLst>
                <a:path h="765304" w="1106678">
                  <a:moveTo>
                    <a:pt x="16891" y="0"/>
                  </a:moveTo>
                  <a:lnTo>
                    <a:pt x="1089787" y="0"/>
                  </a:lnTo>
                  <a:cubicBezTo>
                    <a:pt x="1099185" y="0"/>
                    <a:pt x="1106678" y="7620"/>
                    <a:pt x="1106678" y="16891"/>
                  </a:cubicBezTo>
                  <a:lnTo>
                    <a:pt x="1106678" y="748411"/>
                  </a:lnTo>
                  <a:cubicBezTo>
                    <a:pt x="1106678" y="757809"/>
                    <a:pt x="1099058" y="765302"/>
                    <a:pt x="1089787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089787" y="731520"/>
                  </a:lnTo>
                  <a:lnTo>
                    <a:pt x="1089787" y="748411"/>
                  </a:lnTo>
                  <a:lnTo>
                    <a:pt x="1072896" y="748411"/>
                  </a:lnTo>
                  <a:lnTo>
                    <a:pt x="1072896" y="16891"/>
                  </a:lnTo>
                  <a:lnTo>
                    <a:pt x="1089787" y="16891"/>
                  </a:lnTo>
                  <a:lnTo>
                    <a:pt x="108978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741664" y="3550034"/>
            <a:ext cx="804672" cy="557138"/>
            <a:chOff x="0" y="0"/>
            <a:chExt cx="1072896" cy="74285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72896" cy="742851"/>
            </a:xfrm>
            <a:custGeom>
              <a:avLst/>
              <a:gdLst/>
              <a:ahLst/>
              <a:cxnLst/>
              <a:rect r="r" b="b" t="t" l="l"/>
              <a:pathLst>
                <a:path h="742851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479" t="0" r="-37479" b="152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072896" cy="7904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▼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01703" y="4159129"/>
            <a:ext cx="5328923" cy="1342139"/>
            <a:chOff x="0" y="0"/>
            <a:chExt cx="7105231" cy="178951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70713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0695C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105142" cy="1789430"/>
            </a:xfrm>
            <a:custGeom>
              <a:avLst/>
              <a:gdLst/>
              <a:ahLst/>
              <a:cxnLst/>
              <a:rect r="r" b="b" t="t" l="l"/>
              <a:pathLst>
                <a:path h="1789430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772539"/>
                  </a:lnTo>
                  <a:cubicBezTo>
                    <a:pt x="7105142" y="1781937"/>
                    <a:pt x="7097522" y="1789430"/>
                    <a:pt x="708825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7088251" y="1755648"/>
                  </a:lnTo>
                  <a:lnTo>
                    <a:pt x="7088251" y="1772539"/>
                  </a:lnTo>
                  <a:lnTo>
                    <a:pt x="7071360" y="177253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695C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14400" y="4171826"/>
            <a:ext cx="5303520" cy="1316736"/>
            <a:chOff x="0" y="0"/>
            <a:chExt cx="7071360" cy="175564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0713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81" r="0" b="-2848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707136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Cleaning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&amp; Integration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753863" y="4159129"/>
            <a:ext cx="5328923" cy="1342139"/>
            <a:chOff x="0" y="0"/>
            <a:chExt cx="7105231" cy="178951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70713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6A1B9A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105142" cy="1789430"/>
            </a:xfrm>
            <a:custGeom>
              <a:avLst/>
              <a:gdLst/>
              <a:ahLst/>
              <a:cxnLst/>
              <a:rect r="r" b="b" t="t" l="l"/>
              <a:pathLst>
                <a:path h="1789430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772539"/>
                  </a:lnTo>
                  <a:cubicBezTo>
                    <a:pt x="7105142" y="1781937"/>
                    <a:pt x="7097522" y="1789430"/>
                    <a:pt x="708825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7088251" y="1755648"/>
                  </a:lnTo>
                  <a:lnTo>
                    <a:pt x="7088251" y="1772539"/>
                  </a:lnTo>
                  <a:lnTo>
                    <a:pt x="7071360" y="177253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A1B9A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766560" y="4171826"/>
            <a:ext cx="5303520" cy="1316736"/>
            <a:chOff x="0" y="0"/>
            <a:chExt cx="7071360" cy="175564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0713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81" r="0" b="-2848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707136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 Engineering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(Speed norm, Freq score)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606023" y="4159129"/>
            <a:ext cx="5328923" cy="1342139"/>
            <a:chOff x="0" y="0"/>
            <a:chExt cx="7105231" cy="178951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70713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04D40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105142" cy="1789430"/>
            </a:xfrm>
            <a:custGeom>
              <a:avLst/>
              <a:gdLst/>
              <a:ahLst/>
              <a:cxnLst/>
              <a:rect r="r" b="b" t="t" l="l"/>
              <a:pathLst>
                <a:path h="1789430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772539"/>
                  </a:lnTo>
                  <a:cubicBezTo>
                    <a:pt x="7105142" y="1781937"/>
                    <a:pt x="7097522" y="1789430"/>
                    <a:pt x="708825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7088251" y="1755648"/>
                  </a:lnTo>
                  <a:lnTo>
                    <a:pt x="7088251" y="1772539"/>
                  </a:lnTo>
                  <a:lnTo>
                    <a:pt x="7071360" y="1772539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4D40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2618720" y="4171826"/>
            <a:ext cx="5303520" cy="1316736"/>
            <a:chOff x="0" y="0"/>
            <a:chExt cx="7071360" cy="175564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0713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81" r="0" b="-2848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707136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OpenCV Feature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Extraction (Camera)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728967" y="5475865"/>
            <a:ext cx="830075" cy="574043"/>
            <a:chOff x="0" y="0"/>
            <a:chExt cx="1106767" cy="76539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1072896" cy="731520"/>
            </a:xfrm>
            <a:custGeom>
              <a:avLst/>
              <a:gdLst/>
              <a:ahLst/>
              <a:cxnLst/>
              <a:rect r="r" b="b" t="t" l="l"/>
              <a:pathLst>
                <a:path h="731520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106678" cy="765304"/>
            </a:xfrm>
            <a:custGeom>
              <a:avLst/>
              <a:gdLst/>
              <a:ahLst/>
              <a:cxnLst/>
              <a:rect r="r" b="b" t="t" l="l"/>
              <a:pathLst>
                <a:path h="765304" w="1106678">
                  <a:moveTo>
                    <a:pt x="16891" y="0"/>
                  </a:moveTo>
                  <a:lnTo>
                    <a:pt x="1089787" y="0"/>
                  </a:lnTo>
                  <a:cubicBezTo>
                    <a:pt x="1099185" y="0"/>
                    <a:pt x="1106678" y="7620"/>
                    <a:pt x="1106678" y="16891"/>
                  </a:cubicBezTo>
                  <a:lnTo>
                    <a:pt x="1106678" y="748411"/>
                  </a:lnTo>
                  <a:cubicBezTo>
                    <a:pt x="1106678" y="757809"/>
                    <a:pt x="1099058" y="765302"/>
                    <a:pt x="1089787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089787" y="731520"/>
                  </a:lnTo>
                  <a:lnTo>
                    <a:pt x="1089787" y="748411"/>
                  </a:lnTo>
                  <a:lnTo>
                    <a:pt x="1072896" y="748411"/>
                  </a:lnTo>
                  <a:lnTo>
                    <a:pt x="1072896" y="16891"/>
                  </a:lnTo>
                  <a:lnTo>
                    <a:pt x="1089787" y="16891"/>
                  </a:lnTo>
                  <a:lnTo>
                    <a:pt x="108978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8741664" y="5488562"/>
            <a:ext cx="804672" cy="548640"/>
            <a:chOff x="0" y="0"/>
            <a:chExt cx="1072896" cy="7315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72896" cy="731520"/>
            </a:xfrm>
            <a:custGeom>
              <a:avLst/>
              <a:gdLst/>
              <a:ahLst/>
              <a:cxnLst/>
              <a:rect r="r" b="b" t="t" l="l"/>
              <a:pathLst>
                <a:path h="731520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479" t="0" r="-37479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1072896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▼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535943" y="6061081"/>
            <a:ext cx="3865883" cy="1342139"/>
            <a:chOff x="0" y="0"/>
            <a:chExt cx="5154511" cy="178951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51206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B71C1C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154422" cy="1789430"/>
            </a:xfrm>
            <a:custGeom>
              <a:avLst/>
              <a:gdLst/>
              <a:ahLst/>
              <a:cxnLst/>
              <a:rect r="r" b="b" t="t" l="l"/>
              <a:pathLst>
                <a:path h="178943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772539"/>
                  </a:lnTo>
                  <a:cubicBezTo>
                    <a:pt x="5154422" y="1781937"/>
                    <a:pt x="5146802" y="1789430"/>
                    <a:pt x="513753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5137531" y="1755648"/>
                  </a:lnTo>
                  <a:lnTo>
                    <a:pt x="5137531" y="1772539"/>
                  </a:lnTo>
                  <a:lnTo>
                    <a:pt x="5120640" y="1772539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71C1C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548640" y="6073778"/>
            <a:ext cx="3840480" cy="1316736"/>
            <a:chOff x="0" y="0"/>
            <a:chExt cx="5120640" cy="175564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1206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512064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Logistic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Regression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888487" y="6061081"/>
            <a:ext cx="3865883" cy="1342139"/>
            <a:chOff x="0" y="0"/>
            <a:chExt cx="5154511" cy="178951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6891" y="16891"/>
              <a:ext cx="51206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B71C1C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154422" cy="1789430"/>
            </a:xfrm>
            <a:custGeom>
              <a:avLst/>
              <a:gdLst/>
              <a:ahLst/>
              <a:cxnLst/>
              <a:rect r="r" b="b" t="t" l="l"/>
              <a:pathLst>
                <a:path h="178943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772539"/>
                  </a:lnTo>
                  <a:cubicBezTo>
                    <a:pt x="5154422" y="1781937"/>
                    <a:pt x="5146802" y="1789430"/>
                    <a:pt x="513753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5137531" y="1755648"/>
                  </a:lnTo>
                  <a:lnTo>
                    <a:pt x="5137531" y="1772539"/>
                  </a:lnTo>
                  <a:lnTo>
                    <a:pt x="5120640" y="1772539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71C1C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4901184" y="6073778"/>
            <a:ext cx="3840480" cy="1316736"/>
            <a:chOff x="0" y="0"/>
            <a:chExt cx="5120640" cy="175564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1206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512064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Decision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Tree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241031" y="6061081"/>
            <a:ext cx="3865883" cy="1342139"/>
            <a:chOff x="0" y="0"/>
            <a:chExt cx="5154511" cy="178951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891" y="16891"/>
              <a:ext cx="51206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B71C1C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154422" cy="1789430"/>
            </a:xfrm>
            <a:custGeom>
              <a:avLst/>
              <a:gdLst/>
              <a:ahLst/>
              <a:cxnLst/>
              <a:rect r="r" b="b" t="t" l="l"/>
              <a:pathLst>
                <a:path h="178943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772539"/>
                  </a:lnTo>
                  <a:cubicBezTo>
                    <a:pt x="5154422" y="1781937"/>
                    <a:pt x="5146802" y="1789430"/>
                    <a:pt x="513753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5137531" y="1755648"/>
                  </a:lnTo>
                  <a:lnTo>
                    <a:pt x="5137531" y="1772539"/>
                  </a:lnTo>
                  <a:lnTo>
                    <a:pt x="5120640" y="1772539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71C1C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253728" y="6073778"/>
            <a:ext cx="3840480" cy="1316736"/>
            <a:chOff x="0" y="0"/>
            <a:chExt cx="5120640" cy="175564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1206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512064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Forest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3593575" y="6061081"/>
            <a:ext cx="3865883" cy="1342139"/>
            <a:chOff x="0" y="0"/>
            <a:chExt cx="5154511" cy="1789519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51206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B71C1C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154422" cy="1789430"/>
            </a:xfrm>
            <a:custGeom>
              <a:avLst/>
              <a:gdLst/>
              <a:ahLst/>
              <a:cxnLst/>
              <a:rect r="r" b="b" t="t" l="l"/>
              <a:pathLst>
                <a:path h="1789430" w="5154422">
                  <a:moveTo>
                    <a:pt x="16891" y="0"/>
                  </a:moveTo>
                  <a:lnTo>
                    <a:pt x="5137531" y="0"/>
                  </a:lnTo>
                  <a:cubicBezTo>
                    <a:pt x="5146929" y="0"/>
                    <a:pt x="5154422" y="7620"/>
                    <a:pt x="5154422" y="16891"/>
                  </a:cubicBezTo>
                  <a:lnTo>
                    <a:pt x="5154422" y="1772539"/>
                  </a:lnTo>
                  <a:cubicBezTo>
                    <a:pt x="5154422" y="1781937"/>
                    <a:pt x="5146802" y="1789430"/>
                    <a:pt x="513753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5137531" y="1755648"/>
                  </a:lnTo>
                  <a:lnTo>
                    <a:pt x="5137531" y="1772539"/>
                  </a:lnTo>
                  <a:lnTo>
                    <a:pt x="5120640" y="1772539"/>
                  </a:lnTo>
                  <a:lnTo>
                    <a:pt x="5120640" y="16891"/>
                  </a:lnTo>
                  <a:lnTo>
                    <a:pt x="5137531" y="16891"/>
                  </a:lnTo>
                  <a:lnTo>
                    <a:pt x="5137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71C1C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3606272" y="6073778"/>
            <a:ext cx="3840480" cy="1316736"/>
            <a:chOff x="0" y="0"/>
            <a:chExt cx="5120640" cy="175564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120640" cy="1755648"/>
            </a:xfrm>
            <a:custGeom>
              <a:avLst/>
              <a:gdLst/>
              <a:ahLst/>
              <a:cxnLst/>
              <a:rect r="r" b="b" t="t" l="l"/>
              <a:pathLst>
                <a:path h="175564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5120640" cy="17937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Gradient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Boosting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8728967" y="7377817"/>
            <a:ext cx="830075" cy="574043"/>
            <a:chOff x="0" y="0"/>
            <a:chExt cx="1106767" cy="765391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6891" y="16891"/>
              <a:ext cx="1072896" cy="731520"/>
            </a:xfrm>
            <a:custGeom>
              <a:avLst/>
              <a:gdLst/>
              <a:ahLst/>
              <a:cxnLst/>
              <a:rect r="r" b="b" t="t" l="l"/>
              <a:pathLst>
                <a:path h="731520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106678" cy="765304"/>
            </a:xfrm>
            <a:custGeom>
              <a:avLst/>
              <a:gdLst/>
              <a:ahLst/>
              <a:cxnLst/>
              <a:rect r="r" b="b" t="t" l="l"/>
              <a:pathLst>
                <a:path h="765304" w="1106678">
                  <a:moveTo>
                    <a:pt x="16891" y="0"/>
                  </a:moveTo>
                  <a:lnTo>
                    <a:pt x="1089787" y="0"/>
                  </a:lnTo>
                  <a:cubicBezTo>
                    <a:pt x="1099185" y="0"/>
                    <a:pt x="1106678" y="7620"/>
                    <a:pt x="1106678" y="16891"/>
                  </a:cubicBezTo>
                  <a:lnTo>
                    <a:pt x="1106678" y="748411"/>
                  </a:lnTo>
                  <a:cubicBezTo>
                    <a:pt x="1106678" y="757809"/>
                    <a:pt x="1099058" y="765302"/>
                    <a:pt x="1089787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089787" y="731520"/>
                  </a:lnTo>
                  <a:lnTo>
                    <a:pt x="1089787" y="748411"/>
                  </a:lnTo>
                  <a:lnTo>
                    <a:pt x="1072896" y="748411"/>
                  </a:lnTo>
                  <a:lnTo>
                    <a:pt x="1072896" y="16891"/>
                  </a:lnTo>
                  <a:lnTo>
                    <a:pt x="1089787" y="16891"/>
                  </a:lnTo>
                  <a:lnTo>
                    <a:pt x="108978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8741664" y="7390514"/>
            <a:ext cx="804672" cy="548640"/>
            <a:chOff x="0" y="0"/>
            <a:chExt cx="1072896" cy="7315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72896" cy="731520"/>
            </a:xfrm>
            <a:custGeom>
              <a:avLst/>
              <a:gdLst/>
              <a:ahLst/>
              <a:cxnLst/>
              <a:rect r="r" b="b" t="t" l="l"/>
              <a:pathLst>
                <a:path h="731520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479" t="0" r="-37479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1072896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▼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535943" y="8036185"/>
            <a:ext cx="17216123" cy="1397003"/>
            <a:chOff x="0" y="0"/>
            <a:chExt cx="22954831" cy="186267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16891" y="16891"/>
              <a:ext cx="22920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2954743" cy="1862582"/>
            </a:xfrm>
            <a:custGeom>
              <a:avLst/>
              <a:gdLst/>
              <a:ahLst/>
              <a:cxnLst/>
              <a:rect r="r" b="b" t="t" l="l"/>
              <a:pathLst>
                <a:path h="1862582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1845691"/>
                  </a:lnTo>
                  <a:cubicBezTo>
                    <a:pt x="22954743" y="1855089"/>
                    <a:pt x="22947123" y="1862582"/>
                    <a:pt x="2293785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22937851" y="1828800"/>
                  </a:lnTo>
                  <a:lnTo>
                    <a:pt x="22937851" y="1845691"/>
                  </a:lnTo>
                  <a:lnTo>
                    <a:pt x="22920961" y="184569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548640" y="8048882"/>
            <a:ext cx="17190720" cy="1371600"/>
            <a:chOff x="0" y="0"/>
            <a:chExt cx="22920960" cy="18288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2920961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212" r="0" b="-194212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47625"/>
              <a:ext cx="2292096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OUTPUT: Risk Score (0–1)  |  Zone Classification (Low/Medium/High)  |  Heatmaps  |  Alerts Dashboard  |  Patrol Recommendations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812" y="9901238"/>
            <a:ext cx="18197512" cy="323850"/>
            <a:chOff x="0" y="0"/>
            <a:chExt cx="24263350" cy="431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63350" cy="431800"/>
            </a:xfrm>
            <a:custGeom>
              <a:avLst/>
              <a:gdLst/>
              <a:ahLst/>
              <a:cxnLst/>
              <a:rect r="r" b="b" t="t" l="l"/>
              <a:pathLst>
                <a:path h="431800" w="24263350">
                  <a:moveTo>
                    <a:pt x="0" y="0"/>
                  </a:moveTo>
                  <a:lnTo>
                    <a:pt x="24263350" y="0"/>
                  </a:lnTo>
                  <a:lnTo>
                    <a:pt x="24263350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name="Group 4" id="4"/>
          <p:cNvGrpSpPr/>
          <p:nvPr/>
        </p:nvGrpSpPr>
        <p:grpSpPr>
          <a:xfrm rot="22320">
            <a:off x="442732" y="1521619"/>
            <a:ext cx="17674009" cy="57150"/>
            <a:chOff x="0" y="0"/>
            <a:chExt cx="23565345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65358" cy="76200"/>
            </a:xfrm>
            <a:custGeom>
              <a:avLst/>
              <a:gdLst/>
              <a:ahLst/>
              <a:cxnLst/>
              <a:rect r="r" b="b" t="t" l="l"/>
              <a:pathLst>
                <a:path h="76200" w="23565358">
                  <a:moveTo>
                    <a:pt x="38100" y="0"/>
                  </a:moveTo>
                  <a:lnTo>
                    <a:pt x="23527258" y="0"/>
                  </a:lnTo>
                  <a:cubicBezTo>
                    <a:pt x="23548341" y="0"/>
                    <a:pt x="23565358" y="17018"/>
                    <a:pt x="23565358" y="38100"/>
                  </a:cubicBezTo>
                  <a:cubicBezTo>
                    <a:pt x="23565358" y="59182"/>
                    <a:pt x="23548341" y="76200"/>
                    <a:pt x="23527258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ubicBezTo>
                    <a:pt x="0" y="17018"/>
                    <a:pt x="17018" y="0"/>
                    <a:pt x="38100" y="0"/>
                  </a:cubicBez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85725" y="9625012"/>
            <a:ext cx="18459450" cy="171450"/>
            <a:chOff x="0" y="0"/>
            <a:chExt cx="24612600" cy="228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1" y="-1"/>
              <a:ext cx="24612601" cy="228601"/>
            </a:xfrm>
            <a:custGeom>
              <a:avLst/>
              <a:gdLst/>
              <a:ahLst/>
              <a:cxnLst/>
              <a:rect r="r" b="b" t="t" l="l"/>
              <a:pathLst>
                <a:path h="228601" w="24612601">
                  <a:moveTo>
                    <a:pt x="38355" y="1"/>
                  </a:moveTo>
                  <a:lnTo>
                    <a:pt x="24574755" y="152401"/>
                  </a:lnTo>
                  <a:cubicBezTo>
                    <a:pt x="24595838" y="152528"/>
                    <a:pt x="24612728" y="169673"/>
                    <a:pt x="24612601" y="190755"/>
                  </a:cubicBezTo>
                  <a:cubicBezTo>
                    <a:pt x="24612474" y="211837"/>
                    <a:pt x="24595329" y="228728"/>
                    <a:pt x="24574247" y="228601"/>
                  </a:cubicBezTo>
                  <a:lnTo>
                    <a:pt x="37847" y="76201"/>
                  </a:lnTo>
                  <a:cubicBezTo>
                    <a:pt x="16765" y="76074"/>
                    <a:pt x="-126" y="58929"/>
                    <a:pt x="1" y="37847"/>
                  </a:cubicBezTo>
                  <a:cubicBezTo>
                    <a:pt x="128" y="16765"/>
                    <a:pt x="17273" y="-126"/>
                    <a:pt x="38355" y="1"/>
                  </a:cubicBez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483137" y="-500734"/>
            <a:ext cx="2486568" cy="2486568"/>
            <a:chOff x="0" y="0"/>
            <a:chExt cx="3315424" cy="33154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15462" cy="3315462"/>
            </a:xfrm>
            <a:custGeom>
              <a:avLst/>
              <a:gdLst/>
              <a:ahLst/>
              <a:cxnLst/>
              <a:rect r="r" b="b" t="t" l="l"/>
              <a:pathLst>
                <a:path h="3315462" w="3315462">
                  <a:moveTo>
                    <a:pt x="0" y="0"/>
                  </a:moveTo>
                  <a:lnTo>
                    <a:pt x="3315462" y="0"/>
                  </a:lnTo>
                  <a:lnTo>
                    <a:pt x="3315462" y="3315462"/>
                  </a:lnTo>
                  <a:lnTo>
                    <a:pt x="0" y="33154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041446" y="367274"/>
            <a:ext cx="14700180" cy="71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>
                <a:solidFill>
                  <a:srgbClr val="0000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Performance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18065" y="9901238"/>
            <a:ext cx="10437524" cy="592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16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DEPARTMENT OF COMPUTER ENGINEERING,  Sanjivani COE, Kopargaon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752777" y="9903619"/>
            <a:ext cx="219601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b="true" sz="2100" spc="1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6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19150" y="2149898"/>
            <a:ext cx="7580896" cy="6069383"/>
            <a:chOff x="0" y="0"/>
            <a:chExt cx="11006671" cy="88121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10972800" cy="8778240"/>
            </a:xfrm>
            <a:custGeom>
              <a:avLst/>
              <a:gdLst/>
              <a:ahLst/>
              <a:cxnLst/>
              <a:rect r="r" b="b" t="t" l="l"/>
              <a:pathLst>
                <a:path h="8778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778240"/>
                  </a:lnTo>
                  <a:lnTo>
                    <a:pt x="0" y="8778240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06582" cy="8812022"/>
            </a:xfrm>
            <a:custGeom>
              <a:avLst/>
              <a:gdLst/>
              <a:ahLst/>
              <a:cxnLst/>
              <a:rect r="r" b="b" t="t" l="l"/>
              <a:pathLst>
                <a:path h="88120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8795131"/>
                  </a:lnTo>
                  <a:cubicBezTo>
                    <a:pt x="11006582" y="8804529"/>
                    <a:pt x="10998962" y="8812022"/>
                    <a:pt x="10989691" y="8812022"/>
                  </a:cubicBezTo>
                  <a:lnTo>
                    <a:pt x="16891" y="8812022"/>
                  </a:lnTo>
                  <a:cubicBezTo>
                    <a:pt x="7493" y="8812022"/>
                    <a:pt x="0" y="8804402"/>
                    <a:pt x="0" y="8795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95131"/>
                  </a:lnTo>
                  <a:lnTo>
                    <a:pt x="16891" y="8795131"/>
                  </a:lnTo>
                  <a:lnTo>
                    <a:pt x="16891" y="8778240"/>
                  </a:lnTo>
                  <a:lnTo>
                    <a:pt x="10989691" y="8778240"/>
                  </a:lnTo>
                  <a:lnTo>
                    <a:pt x="10989691" y="8795131"/>
                  </a:lnTo>
                  <a:lnTo>
                    <a:pt x="10972800" y="87951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7211" y="3145905"/>
            <a:ext cx="2733784" cy="2313919"/>
            <a:chOff x="0" y="0"/>
            <a:chExt cx="3969169" cy="33595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33909" y="33909"/>
              <a:ext cx="39014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E7D32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69258" cy="3359658"/>
            </a:xfrm>
            <a:custGeom>
              <a:avLst/>
              <a:gdLst/>
              <a:ahLst/>
              <a:cxnLst/>
              <a:rect r="r" b="b" t="t" l="l"/>
              <a:pathLst>
                <a:path h="3359658" w="3969258">
                  <a:moveTo>
                    <a:pt x="33909" y="0"/>
                  </a:moveTo>
                  <a:lnTo>
                    <a:pt x="3935349" y="0"/>
                  </a:lnTo>
                  <a:cubicBezTo>
                    <a:pt x="3954018" y="0"/>
                    <a:pt x="3969258" y="15113"/>
                    <a:pt x="3969258" y="33909"/>
                  </a:cubicBezTo>
                  <a:lnTo>
                    <a:pt x="3969258" y="3325749"/>
                  </a:lnTo>
                  <a:cubicBezTo>
                    <a:pt x="3969258" y="3344418"/>
                    <a:pt x="3954145" y="3359658"/>
                    <a:pt x="3935349" y="3359658"/>
                  </a:cubicBezTo>
                  <a:lnTo>
                    <a:pt x="33909" y="3359658"/>
                  </a:lnTo>
                  <a:cubicBezTo>
                    <a:pt x="15240" y="3359658"/>
                    <a:pt x="0" y="3344545"/>
                    <a:pt x="0" y="332574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3325749"/>
                  </a:lnTo>
                  <a:lnTo>
                    <a:pt x="33909" y="3325749"/>
                  </a:lnTo>
                  <a:lnTo>
                    <a:pt x="33909" y="3291840"/>
                  </a:lnTo>
                  <a:lnTo>
                    <a:pt x="3935349" y="3291840"/>
                  </a:lnTo>
                  <a:lnTo>
                    <a:pt x="3935349" y="3325749"/>
                  </a:lnTo>
                  <a:lnTo>
                    <a:pt x="3901440" y="3325749"/>
                  </a:lnTo>
                  <a:lnTo>
                    <a:pt x="3901440" y="33909"/>
                  </a:lnTo>
                  <a:lnTo>
                    <a:pt x="3935349" y="33909"/>
                  </a:lnTo>
                  <a:lnTo>
                    <a:pt x="393534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70540" y="3169234"/>
            <a:ext cx="2687135" cy="2267270"/>
            <a:chOff x="0" y="0"/>
            <a:chExt cx="3901440" cy="3291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014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8256" t="0" r="-58256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3901440" cy="3339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TP: 312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670238" y="3145905"/>
            <a:ext cx="2733784" cy="2313919"/>
            <a:chOff x="0" y="0"/>
            <a:chExt cx="3969169" cy="335956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33909" y="33909"/>
              <a:ext cx="39014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D32F2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969258" cy="3359658"/>
            </a:xfrm>
            <a:custGeom>
              <a:avLst/>
              <a:gdLst/>
              <a:ahLst/>
              <a:cxnLst/>
              <a:rect r="r" b="b" t="t" l="l"/>
              <a:pathLst>
                <a:path h="3359658" w="3969258">
                  <a:moveTo>
                    <a:pt x="33909" y="0"/>
                  </a:moveTo>
                  <a:lnTo>
                    <a:pt x="3935349" y="0"/>
                  </a:lnTo>
                  <a:cubicBezTo>
                    <a:pt x="3954018" y="0"/>
                    <a:pt x="3969258" y="15113"/>
                    <a:pt x="3969258" y="33909"/>
                  </a:cubicBezTo>
                  <a:lnTo>
                    <a:pt x="3969258" y="3325749"/>
                  </a:lnTo>
                  <a:cubicBezTo>
                    <a:pt x="3969258" y="3344418"/>
                    <a:pt x="3954145" y="3359658"/>
                    <a:pt x="3935349" y="3359658"/>
                  </a:cubicBezTo>
                  <a:lnTo>
                    <a:pt x="33909" y="3359658"/>
                  </a:lnTo>
                  <a:cubicBezTo>
                    <a:pt x="15240" y="3359658"/>
                    <a:pt x="0" y="3344545"/>
                    <a:pt x="0" y="332574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3325749"/>
                  </a:lnTo>
                  <a:lnTo>
                    <a:pt x="33909" y="3325749"/>
                  </a:lnTo>
                  <a:lnTo>
                    <a:pt x="33909" y="3291840"/>
                  </a:lnTo>
                  <a:lnTo>
                    <a:pt x="3935349" y="3291840"/>
                  </a:lnTo>
                  <a:lnTo>
                    <a:pt x="3935349" y="3325749"/>
                  </a:lnTo>
                  <a:lnTo>
                    <a:pt x="3901440" y="3325749"/>
                  </a:lnTo>
                  <a:lnTo>
                    <a:pt x="3901440" y="33909"/>
                  </a:lnTo>
                  <a:lnTo>
                    <a:pt x="3935349" y="33909"/>
                  </a:lnTo>
                  <a:lnTo>
                    <a:pt x="393534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4693567" y="3169234"/>
            <a:ext cx="2687135" cy="2267270"/>
            <a:chOff x="0" y="0"/>
            <a:chExt cx="3901440" cy="3291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9014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8256" t="0" r="-58256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3901440" cy="3339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FP: 28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47211" y="5665094"/>
            <a:ext cx="2733784" cy="2313919"/>
            <a:chOff x="0" y="0"/>
            <a:chExt cx="3969169" cy="335956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33909" y="33909"/>
              <a:ext cx="39014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D32F2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69258" cy="3359658"/>
            </a:xfrm>
            <a:custGeom>
              <a:avLst/>
              <a:gdLst/>
              <a:ahLst/>
              <a:cxnLst/>
              <a:rect r="r" b="b" t="t" l="l"/>
              <a:pathLst>
                <a:path h="3359658" w="3969258">
                  <a:moveTo>
                    <a:pt x="33909" y="0"/>
                  </a:moveTo>
                  <a:lnTo>
                    <a:pt x="3935349" y="0"/>
                  </a:lnTo>
                  <a:cubicBezTo>
                    <a:pt x="3954018" y="0"/>
                    <a:pt x="3969258" y="15113"/>
                    <a:pt x="3969258" y="33909"/>
                  </a:cubicBezTo>
                  <a:lnTo>
                    <a:pt x="3969258" y="3325749"/>
                  </a:lnTo>
                  <a:cubicBezTo>
                    <a:pt x="3969258" y="3344418"/>
                    <a:pt x="3954145" y="3359658"/>
                    <a:pt x="3935349" y="3359658"/>
                  </a:cubicBezTo>
                  <a:lnTo>
                    <a:pt x="33909" y="3359658"/>
                  </a:lnTo>
                  <a:cubicBezTo>
                    <a:pt x="15240" y="3359658"/>
                    <a:pt x="0" y="3344545"/>
                    <a:pt x="0" y="332574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3325749"/>
                  </a:lnTo>
                  <a:lnTo>
                    <a:pt x="33909" y="3325749"/>
                  </a:lnTo>
                  <a:lnTo>
                    <a:pt x="33909" y="3291840"/>
                  </a:lnTo>
                  <a:lnTo>
                    <a:pt x="3935349" y="3291840"/>
                  </a:lnTo>
                  <a:lnTo>
                    <a:pt x="3935349" y="3325749"/>
                  </a:lnTo>
                  <a:lnTo>
                    <a:pt x="3901440" y="3325749"/>
                  </a:lnTo>
                  <a:lnTo>
                    <a:pt x="3901440" y="33909"/>
                  </a:lnTo>
                  <a:lnTo>
                    <a:pt x="3935349" y="33909"/>
                  </a:lnTo>
                  <a:lnTo>
                    <a:pt x="393534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70540" y="5688423"/>
            <a:ext cx="2687135" cy="2267270"/>
            <a:chOff x="0" y="0"/>
            <a:chExt cx="3901440" cy="3291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9014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8256" t="0" r="-58256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3901440" cy="3339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FN: 31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670238" y="5665094"/>
            <a:ext cx="2733784" cy="2313919"/>
            <a:chOff x="0" y="0"/>
            <a:chExt cx="3969169" cy="335956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33909" y="33909"/>
              <a:ext cx="39014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E7D32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969258" cy="3359658"/>
            </a:xfrm>
            <a:custGeom>
              <a:avLst/>
              <a:gdLst/>
              <a:ahLst/>
              <a:cxnLst/>
              <a:rect r="r" b="b" t="t" l="l"/>
              <a:pathLst>
                <a:path h="3359658" w="3969258">
                  <a:moveTo>
                    <a:pt x="33909" y="0"/>
                  </a:moveTo>
                  <a:lnTo>
                    <a:pt x="3935349" y="0"/>
                  </a:lnTo>
                  <a:cubicBezTo>
                    <a:pt x="3954018" y="0"/>
                    <a:pt x="3969258" y="15113"/>
                    <a:pt x="3969258" y="33909"/>
                  </a:cubicBezTo>
                  <a:lnTo>
                    <a:pt x="3969258" y="3325749"/>
                  </a:lnTo>
                  <a:cubicBezTo>
                    <a:pt x="3969258" y="3344418"/>
                    <a:pt x="3954145" y="3359658"/>
                    <a:pt x="3935349" y="3359658"/>
                  </a:cubicBezTo>
                  <a:lnTo>
                    <a:pt x="33909" y="3359658"/>
                  </a:lnTo>
                  <a:cubicBezTo>
                    <a:pt x="15240" y="3359658"/>
                    <a:pt x="0" y="3344545"/>
                    <a:pt x="0" y="332574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3325749"/>
                  </a:lnTo>
                  <a:lnTo>
                    <a:pt x="33909" y="3325749"/>
                  </a:lnTo>
                  <a:lnTo>
                    <a:pt x="33909" y="3291840"/>
                  </a:lnTo>
                  <a:lnTo>
                    <a:pt x="3935349" y="3291840"/>
                  </a:lnTo>
                  <a:lnTo>
                    <a:pt x="3935349" y="3325749"/>
                  </a:lnTo>
                  <a:lnTo>
                    <a:pt x="3901440" y="3325749"/>
                  </a:lnTo>
                  <a:lnTo>
                    <a:pt x="3901440" y="33909"/>
                  </a:lnTo>
                  <a:lnTo>
                    <a:pt x="3935349" y="33909"/>
                  </a:lnTo>
                  <a:lnTo>
                    <a:pt x="393534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4693567" y="5688423"/>
            <a:ext cx="2687135" cy="2267270"/>
            <a:chOff x="0" y="0"/>
            <a:chExt cx="3901440" cy="3291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014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8256" t="0" r="-58256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3901440" cy="3339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TN: 229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30810" y="8257996"/>
            <a:ext cx="7557567" cy="419865"/>
            <a:chOff x="0" y="0"/>
            <a:chExt cx="10972800" cy="609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09728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Predicted</a:t>
              </a:r>
            </a:p>
          </p:txBody>
        </p:sp>
      </p:grpSp>
      <p:pic>
        <p:nvPicPr>
          <p:cNvPr name="Picture 43" id="4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344624" y="865342"/>
            <a:ext cx="9592511" cy="8389381"/>
          </a:xfrm>
          <a:prstGeom prst="rect">
            <a:avLst/>
          </a:prstGeom>
        </p:spPr>
      </p:pic>
      <p:grpSp>
        <p:nvGrpSpPr>
          <p:cNvPr name="Group 44" id="44"/>
          <p:cNvGrpSpPr/>
          <p:nvPr/>
        </p:nvGrpSpPr>
        <p:grpSpPr>
          <a:xfrm rot="0">
            <a:off x="1150241" y="8645847"/>
            <a:ext cx="2962383" cy="896648"/>
            <a:chOff x="0" y="0"/>
            <a:chExt cx="4301071" cy="130183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42672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300982" cy="1301750"/>
            </a:xfrm>
            <a:custGeom>
              <a:avLst/>
              <a:gdLst/>
              <a:ahLst/>
              <a:cxnLst/>
              <a:rect r="r" b="b" t="t" l="l"/>
              <a:pathLst>
                <a:path h="1301750" w="4300982">
                  <a:moveTo>
                    <a:pt x="16891" y="0"/>
                  </a:moveTo>
                  <a:lnTo>
                    <a:pt x="4284091" y="0"/>
                  </a:lnTo>
                  <a:cubicBezTo>
                    <a:pt x="4293489" y="0"/>
                    <a:pt x="4300982" y="7620"/>
                    <a:pt x="4300982" y="16891"/>
                  </a:cubicBezTo>
                  <a:lnTo>
                    <a:pt x="4300982" y="1284859"/>
                  </a:lnTo>
                  <a:cubicBezTo>
                    <a:pt x="4300982" y="1294257"/>
                    <a:pt x="4293362" y="1301750"/>
                    <a:pt x="428409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4284091" y="1267968"/>
                  </a:lnTo>
                  <a:lnTo>
                    <a:pt x="4284091" y="1284859"/>
                  </a:lnTo>
                  <a:lnTo>
                    <a:pt x="4267200" y="1284859"/>
                  </a:lnTo>
                  <a:lnTo>
                    <a:pt x="4267200" y="16891"/>
                  </a:lnTo>
                  <a:lnTo>
                    <a:pt x="4284091" y="16891"/>
                  </a:lnTo>
                  <a:lnTo>
                    <a:pt x="4284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61901" y="8657507"/>
            <a:ext cx="2939054" cy="873319"/>
            <a:chOff x="0" y="0"/>
            <a:chExt cx="4267200" cy="126796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672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574" r="0" b="-1557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26720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Accuracy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93%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341214" y="8645847"/>
            <a:ext cx="2962383" cy="896648"/>
            <a:chOff x="0" y="0"/>
            <a:chExt cx="4301071" cy="130183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42672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06064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300982" cy="1301750"/>
            </a:xfrm>
            <a:custGeom>
              <a:avLst/>
              <a:gdLst/>
              <a:ahLst/>
              <a:cxnLst/>
              <a:rect r="r" b="b" t="t" l="l"/>
              <a:pathLst>
                <a:path h="1301750" w="4300982">
                  <a:moveTo>
                    <a:pt x="16891" y="0"/>
                  </a:moveTo>
                  <a:lnTo>
                    <a:pt x="4284091" y="0"/>
                  </a:lnTo>
                  <a:cubicBezTo>
                    <a:pt x="4293489" y="0"/>
                    <a:pt x="4300982" y="7620"/>
                    <a:pt x="4300982" y="16891"/>
                  </a:cubicBezTo>
                  <a:lnTo>
                    <a:pt x="4300982" y="1284859"/>
                  </a:lnTo>
                  <a:cubicBezTo>
                    <a:pt x="4300982" y="1294257"/>
                    <a:pt x="4293362" y="1301750"/>
                    <a:pt x="428409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4284091" y="1267968"/>
                  </a:lnTo>
                  <a:lnTo>
                    <a:pt x="4284091" y="1284859"/>
                  </a:lnTo>
                  <a:lnTo>
                    <a:pt x="4267200" y="1284859"/>
                  </a:lnTo>
                  <a:lnTo>
                    <a:pt x="4267200" y="16891"/>
                  </a:lnTo>
                  <a:lnTo>
                    <a:pt x="4284091" y="16891"/>
                  </a:lnTo>
                  <a:lnTo>
                    <a:pt x="4284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6064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4352874" y="8657507"/>
            <a:ext cx="2939054" cy="873319"/>
            <a:chOff x="0" y="0"/>
            <a:chExt cx="4267200" cy="126796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2672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574" r="0" b="-1557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426720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Precision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91%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532187" y="8645847"/>
            <a:ext cx="2962383" cy="896648"/>
            <a:chOff x="0" y="0"/>
            <a:chExt cx="4301071" cy="130183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42672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2E7D32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300982" cy="1301750"/>
            </a:xfrm>
            <a:custGeom>
              <a:avLst/>
              <a:gdLst/>
              <a:ahLst/>
              <a:cxnLst/>
              <a:rect r="r" b="b" t="t" l="l"/>
              <a:pathLst>
                <a:path h="1301750" w="4300982">
                  <a:moveTo>
                    <a:pt x="16891" y="0"/>
                  </a:moveTo>
                  <a:lnTo>
                    <a:pt x="4284091" y="0"/>
                  </a:lnTo>
                  <a:cubicBezTo>
                    <a:pt x="4293489" y="0"/>
                    <a:pt x="4300982" y="7620"/>
                    <a:pt x="4300982" y="16891"/>
                  </a:cubicBezTo>
                  <a:lnTo>
                    <a:pt x="4300982" y="1284859"/>
                  </a:lnTo>
                  <a:cubicBezTo>
                    <a:pt x="4300982" y="1294257"/>
                    <a:pt x="4293362" y="1301750"/>
                    <a:pt x="428409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4284091" y="1267968"/>
                  </a:lnTo>
                  <a:lnTo>
                    <a:pt x="4284091" y="1284859"/>
                  </a:lnTo>
                  <a:lnTo>
                    <a:pt x="4267200" y="1284859"/>
                  </a:lnTo>
                  <a:lnTo>
                    <a:pt x="4267200" y="16891"/>
                  </a:lnTo>
                  <a:lnTo>
                    <a:pt x="4284091" y="16891"/>
                  </a:lnTo>
                  <a:lnTo>
                    <a:pt x="4284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7D32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543847" y="8657507"/>
            <a:ext cx="2939054" cy="873319"/>
            <a:chOff x="0" y="0"/>
            <a:chExt cx="4267200" cy="126796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2672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574" r="0" b="-1557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26720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Recall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90%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723160" y="8645847"/>
            <a:ext cx="2962383" cy="896648"/>
            <a:chOff x="0" y="0"/>
            <a:chExt cx="4301071" cy="130183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42672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E65100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300982" cy="1301750"/>
            </a:xfrm>
            <a:custGeom>
              <a:avLst/>
              <a:gdLst/>
              <a:ahLst/>
              <a:cxnLst/>
              <a:rect r="r" b="b" t="t" l="l"/>
              <a:pathLst>
                <a:path h="1301750" w="4300982">
                  <a:moveTo>
                    <a:pt x="16891" y="0"/>
                  </a:moveTo>
                  <a:lnTo>
                    <a:pt x="4284091" y="0"/>
                  </a:lnTo>
                  <a:cubicBezTo>
                    <a:pt x="4293489" y="0"/>
                    <a:pt x="4300982" y="7620"/>
                    <a:pt x="4300982" y="16891"/>
                  </a:cubicBezTo>
                  <a:lnTo>
                    <a:pt x="4300982" y="1284859"/>
                  </a:lnTo>
                  <a:cubicBezTo>
                    <a:pt x="4300982" y="1294257"/>
                    <a:pt x="4293362" y="1301750"/>
                    <a:pt x="428409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4284091" y="1267968"/>
                  </a:lnTo>
                  <a:lnTo>
                    <a:pt x="4284091" y="1284859"/>
                  </a:lnTo>
                  <a:lnTo>
                    <a:pt x="4267200" y="1284859"/>
                  </a:lnTo>
                  <a:lnTo>
                    <a:pt x="4267200" y="16891"/>
                  </a:lnTo>
                  <a:lnTo>
                    <a:pt x="4284091" y="16891"/>
                  </a:lnTo>
                  <a:lnTo>
                    <a:pt x="4284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6510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734820" y="8657507"/>
            <a:ext cx="2939054" cy="873319"/>
            <a:chOff x="0" y="0"/>
            <a:chExt cx="4267200" cy="126796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2672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574" r="0" b="-1557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26720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F1-Score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92%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914133" y="8645847"/>
            <a:ext cx="2962383" cy="896648"/>
            <a:chOff x="0" y="0"/>
            <a:chExt cx="4301071" cy="130183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42672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B71C1C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300982" cy="1301750"/>
            </a:xfrm>
            <a:custGeom>
              <a:avLst/>
              <a:gdLst/>
              <a:ahLst/>
              <a:cxnLst/>
              <a:rect r="r" b="b" t="t" l="l"/>
              <a:pathLst>
                <a:path h="1301750" w="4300982">
                  <a:moveTo>
                    <a:pt x="16891" y="0"/>
                  </a:moveTo>
                  <a:lnTo>
                    <a:pt x="4284091" y="0"/>
                  </a:lnTo>
                  <a:cubicBezTo>
                    <a:pt x="4293489" y="0"/>
                    <a:pt x="4300982" y="7620"/>
                    <a:pt x="4300982" y="16891"/>
                  </a:cubicBezTo>
                  <a:lnTo>
                    <a:pt x="4300982" y="1284859"/>
                  </a:lnTo>
                  <a:cubicBezTo>
                    <a:pt x="4300982" y="1294257"/>
                    <a:pt x="4293362" y="1301750"/>
                    <a:pt x="428409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4284091" y="1267968"/>
                  </a:lnTo>
                  <a:lnTo>
                    <a:pt x="4284091" y="1284859"/>
                  </a:lnTo>
                  <a:lnTo>
                    <a:pt x="4267200" y="1284859"/>
                  </a:lnTo>
                  <a:lnTo>
                    <a:pt x="4267200" y="16891"/>
                  </a:lnTo>
                  <a:lnTo>
                    <a:pt x="4284091" y="16891"/>
                  </a:lnTo>
                  <a:lnTo>
                    <a:pt x="4284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71C1C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3925793" y="8657507"/>
            <a:ext cx="2939054" cy="873319"/>
            <a:chOff x="0" y="0"/>
            <a:chExt cx="4267200" cy="126796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2672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574" r="0" b="-1557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26720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ROC-AUC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0.95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518" y="9684210"/>
            <a:ext cx="18197512" cy="323850"/>
            <a:chOff x="0" y="0"/>
            <a:chExt cx="24263350" cy="431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63350" cy="431800"/>
            </a:xfrm>
            <a:custGeom>
              <a:avLst/>
              <a:gdLst/>
              <a:ahLst/>
              <a:cxnLst/>
              <a:rect r="r" b="b" t="t" l="l"/>
              <a:pathLst>
                <a:path h="431800" w="24263350">
                  <a:moveTo>
                    <a:pt x="0" y="0"/>
                  </a:moveTo>
                  <a:lnTo>
                    <a:pt x="24263350" y="0"/>
                  </a:lnTo>
                  <a:lnTo>
                    <a:pt x="24263350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06996" y="1340387"/>
            <a:ext cx="17674009" cy="57150"/>
            <a:chOff x="0" y="0"/>
            <a:chExt cx="23565345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65358" cy="76200"/>
            </a:xfrm>
            <a:custGeom>
              <a:avLst/>
              <a:gdLst/>
              <a:ahLst/>
              <a:cxnLst/>
              <a:rect r="r" b="b" t="t" l="l"/>
              <a:pathLst>
                <a:path h="76200" w="23565358">
                  <a:moveTo>
                    <a:pt x="38100" y="0"/>
                  </a:moveTo>
                  <a:lnTo>
                    <a:pt x="23527258" y="0"/>
                  </a:lnTo>
                  <a:cubicBezTo>
                    <a:pt x="23548341" y="0"/>
                    <a:pt x="23565358" y="17018"/>
                    <a:pt x="23565358" y="38100"/>
                  </a:cubicBezTo>
                  <a:cubicBezTo>
                    <a:pt x="23565358" y="59182"/>
                    <a:pt x="23548341" y="76200"/>
                    <a:pt x="23527258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ubicBezTo>
                    <a:pt x="0" y="17018"/>
                    <a:pt x="17018" y="0"/>
                    <a:pt x="38100" y="0"/>
                  </a:cubicBez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name="Group 6" id="6"/>
          <p:cNvGrpSpPr/>
          <p:nvPr/>
        </p:nvGrpSpPr>
        <p:grpSpPr>
          <a:xfrm rot="21360">
            <a:off x="-143227" y="9436560"/>
            <a:ext cx="18459802" cy="57150"/>
            <a:chOff x="0" y="0"/>
            <a:chExt cx="24613070" cy="76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613108" cy="76200"/>
            </a:xfrm>
            <a:custGeom>
              <a:avLst/>
              <a:gdLst/>
              <a:ahLst/>
              <a:cxnLst/>
              <a:rect r="r" b="b" t="t" l="l"/>
              <a:pathLst>
                <a:path h="76200" w="24613108">
                  <a:moveTo>
                    <a:pt x="38100" y="0"/>
                  </a:moveTo>
                  <a:lnTo>
                    <a:pt x="24575008" y="0"/>
                  </a:lnTo>
                  <a:cubicBezTo>
                    <a:pt x="24596091" y="0"/>
                    <a:pt x="24613108" y="17018"/>
                    <a:pt x="24613108" y="38100"/>
                  </a:cubicBezTo>
                  <a:cubicBezTo>
                    <a:pt x="24613108" y="59182"/>
                    <a:pt x="24596091" y="76200"/>
                    <a:pt x="24575008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ubicBezTo>
                    <a:pt x="0" y="17018"/>
                    <a:pt x="17018" y="0"/>
                    <a:pt x="38100" y="0"/>
                  </a:cubicBez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462759" y="-428301"/>
            <a:ext cx="2221641" cy="2221641"/>
            <a:chOff x="0" y="0"/>
            <a:chExt cx="3315424" cy="33154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15462" cy="3315462"/>
            </a:xfrm>
            <a:custGeom>
              <a:avLst/>
              <a:gdLst/>
              <a:ahLst/>
              <a:cxnLst/>
              <a:rect r="r" b="b" t="t" l="l"/>
              <a:pathLst>
                <a:path h="3315462" w="3315462">
                  <a:moveTo>
                    <a:pt x="0" y="0"/>
                  </a:moveTo>
                  <a:lnTo>
                    <a:pt x="3315462" y="0"/>
                  </a:lnTo>
                  <a:lnTo>
                    <a:pt x="3315462" y="3315462"/>
                  </a:lnTo>
                  <a:lnTo>
                    <a:pt x="0" y="33154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862322" y="381029"/>
            <a:ext cx="15590549" cy="711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0000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Scope of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60743" y="9712052"/>
            <a:ext cx="10437524" cy="592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16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DEPARTMENT OF COMPUTER ENGINEERING,  Sanjivani COE, Kopargaon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85931" y="9686592"/>
            <a:ext cx="219601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b="true" sz="2100" spc="1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7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195543" y="4002316"/>
            <a:ext cx="3896906" cy="2322593"/>
            <a:chOff x="0" y="0"/>
            <a:chExt cx="5432209" cy="323764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33909" y="33909"/>
              <a:ext cx="53644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5364480">
                  <a:moveTo>
                    <a:pt x="0" y="1584960"/>
                  </a:moveTo>
                  <a:cubicBezTo>
                    <a:pt x="0" y="709549"/>
                    <a:pt x="1200912" y="0"/>
                    <a:pt x="2682240" y="0"/>
                  </a:cubicBezTo>
                  <a:cubicBezTo>
                    <a:pt x="4163568" y="0"/>
                    <a:pt x="5364480" y="709549"/>
                    <a:pt x="5364480" y="1584960"/>
                  </a:cubicBezTo>
                  <a:cubicBezTo>
                    <a:pt x="5364480" y="2460371"/>
                    <a:pt x="4163568" y="3169920"/>
                    <a:pt x="2682240" y="3169920"/>
                  </a:cubicBezTo>
                  <a:cubicBezTo>
                    <a:pt x="1200912" y="3169920"/>
                    <a:pt x="0" y="2460244"/>
                    <a:pt x="0" y="1584960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32171" cy="3237738"/>
            </a:xfrm>
            <a:custGeom>
              <a:avLst/>
              <a:gdLst/>
              <a:ahLst/>
              <a:cxnLst/>
              <a:rect r="r" b="b" t="t" l="l"/>
              <a:pathLst>
                <a:path h="3237738" w="5432171">
                  <a:moveTo>
                    <a:pt x="0" y="1618869"/>
                  </a:moveTo>
                  <a:cubicBezTo>
                    <a:pt x="0" y="710819"/>
                    <a:pt x="1233932" y="0"/>
                    <a:pt x="2716149" y="0"/>
                  </a:cubicBezTo>
                  <a:cubicBezTo>
                    <a:pt x="4198366" y="0"/>
                    <a:pt x="5432171" y="710819"/>
                    <a:pt x="5432171" y="1618869"/>
                  </a:cubicBezTo>
                  <a:lnTo>
                    <a:pt x="5398262" y="1618869"/>
                  </a:lnTo>
                  <a:lnTo>
                    <a:pt x="5432171" y="1618869"/>
                  </a:lnTo>
                  <a:cubicBezTo>
                    <a:pt x="5432171" y="2526792"/>
                    <a:pt x="4198239" y="3237738"/>
                    <a:pt x="2716022" y="3237738"/>
                  </a:cubicBezTo>
                  <a:lnTo>
                    <a:pt x="2716022" y="3203829"/>
                  </a:lnTo>
                  <a:lnTo>
                    <a:pt x="2716022" y="3237738"/>
                  </a:lnTo>
                  <a:cubicBezTo>
                    <a:pt x="1233932" y="3237611"/>
                    <a:pt x="0" y="2526792"/>
                    <a:pt x="0" y="1618869"/>
                  </a:cubicBezTo>
                  <a:lnTo>
                    <a:pt x="33909" y="1618869"/>
                  </a:lnTo>
                  <a:lnTo>
                    <a:pt x="67691" y="1618869"/>
                  </a:lnTo>
                  <a:lnTo>
                    <a:pt x="33909" y="1618869"/>
                  </a:lnTo>
                  <a:lnTo>
                    <a:pt x="0" y="1618869"/>
                  </a:lnTo>
                  <a:moveTo>
                    <a:pt x="67691" y="1618869"/>
                  </a:moveTo>
                  <a:cubicBezTo>
                    <a:pt x="67691" y="1637538"/>
                    <a:pt x="52578" y="1652778"/>
                    <a:pt x="33782" y="1652778"/>
                  </a:cubicBezTo>
                  <a:cubicBezTo>
                    <a:pt x="14986" y="1652778"/>
                    <a:pt x="0" y="1637538"/>
                    <a:pt x="0" y="1618869"/>
                  </a:cubicBezTo>
                  <a:cubicBezTo>
                    <a:pt x="0" y="1600200"/>
                    <a:pt x="15113" y="1584960"/>
                    <a:pt x="33909" y="1584960"/>
                  </a:cubicBezTo>
                  <a:cubicBezTo>
                    <a:pt x="52705" y="1584960"/>
                    <a:pt x="67818" y="1600073"/>
                    <a:pt x="67818" y="1618869"/>
                  </a:cubicBezTo>
                  <a:cubicBezTo>
                    <a:pt x="67818" y="2461641"/>
                    <a:pt x="1235583" y="3169920"/>
                    <a:pt x="2716149" y="3169920"/>
                  </a:cubicBezTo>
                  <a:cubicBezTo>
                    <a:pt x="4196715" y="3169920"/>
                    <a:pt x="5364480" y="2461641"/>
                    <a:pt x="5364480" y="1618869"/>
                  </a:cubicBezTo>
                  <a:cubicBezTo>
                    <a:pt x="5364480" y="776097"/>
                    <a:pt x="4196715" y="67818"/>
                    <a:pt x="2716149" y="67818"/>
                  </a:cubicBezTo>
                  <a:lnTo>
                    <a:pt x="2716149" y="33909"/>
                  </a:lnTo>
                  <a:lnTo>
                    <a:pt x="2716149" y="67691"/>
                  </a:lnTo>
                  <a:cubicBezTo>
                    <a:pt x="1235583" y="67691"/>
                    <a:pt x="67691" y="776097"/>
                    <a:pt x="67691" y="1618869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219841" y="4026614"/>
            <a:ext cx="3848319" cy="2274007"/>
            <a:chOff x="0" y="0"/>
            <a:chExt cx="5364480" cy="3169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644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815" t="0" r="-25815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5364480" cy="3227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SCOPE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41985" y="1559462"/>
            <a:ext cx="7908004" cy="3709838"/>
            <a:chOff x="0" y="0"/>
            <a:chExt cx="11023600" cy="5171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5400" y="25400"/>
              <a:ext cx="109728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023600" cy="5171440"/>
            </a:xfrm>
            <a:custGeom>
              <a:avLst/>
              <a:gdLst/>
              <a:ahLst/>
              <a:cxnLst/>
              <a:rect r="r" b="b" t="t" l="l"/>
              <a:pathLst>
                <a:path h="5171440" w="11023600">
                  <a:moveTo>
                    <a:pt x="25400" y="0"/>
                  </a:moveTo>
                  <a:lnTo>
                    <a:pt x="10998200" y="0"/>
                  </a:lnTo>
                  <a:cubicBezTo>
                    <a:pt x="11012170" y="0"/>
                    <a:pt x="11023600" y="11430"/>
                    <a:pt x="11023600" y="25400"/>
                  </a:cubicBezTo>
                  <a:lnTo>
                    <a:pt x="11023600" y="5146040"/>
                  </a:lnTo>
                  <a:cubicBezTo>
                    <a:pt x="11023600" y="5160010"/>
                    <a:pt x="11012170" y="5171440"/>
                    <a:pt x="10998200" y="5171440"/>
                  </a:cubicBezTo>
                  <a:lnTo>
                    <a:pt x="25400" y="5171440"/>
                  </a:lnTo>
                  <a:cubicBezTo>
                    <a:pt x="11430" y="5171440"/>
                    <a:pt x="0" y="5160010"/>
                    <a:pt x="0" y="51460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5146040"/>
                  </a:lnTo>
                  <a:lnTo>
                    <a:pt x="25400" y="5146040"/>
                  </a:lnTo>
                  <a:lnTo>
                    <a:pt x="25400" y="5120640"/>
                  </a:lnTo>
                  <a:lnTo>
                    <a:pt x="10998200" y="5120640"/>
                  </a:lnTo>
                  <a:lnTo>
                    <a:pt x="10998200" y="5146040"/>
                  </a:lnTo>
                  <a:lnTo>
                    <a:pt x="10972800" y="5146040"/>
                  </a:lnTo>
                  <a:lnTo>
                    <a:pt x="10972800" y="25400"/>
                  </a:lnTo>
                  <a:lnTo>
                    <a:pt x="10998200" y="25400"/>
                  </a:lnTo>
                  <a:lnTo>
                    <a:pt x="10998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8062" y="1565539"/>
            <a:ext cx="7895859" cy="723992"/>
            <a:chOff x="0" y="0"/>
            <a:chExt cx="11006671" cy="10092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1097280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00658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992251"/>
                  </a:lnTo>
                  <a:cubicBezTo>
                    <a:pt x="11006582" y="1001649"/>
                    <a:pt x="10998962" y="1009142"/>
                    <a:pt x="1098969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0989691" y="975360"/>
                  </a:lnTo>
                  <a:lnTo>
                    <a:pt x="10989691" y="992251"/>
                  </a:lnTo>
                  <a:lnTo>
                    <a:pt x="10972800" y="9922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35130" y="1577684"/>
            <a:ext cx="7521714" cy="699694"/>
            <a:chOff x="0" y="0"/>
            <a:chExt cx="10485120" cy="975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85120" cy="975360"/>
            </a:xfrm>
            <a:custGeom>
              <a:avLst/>
              <a:gdLst/>
              <a:ahLst/>
              <a:cxnLst/>
              <a:rect r="r" b="b" t="t" l="l"/>
              <a:pathLst>
                <a:path h="9753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04851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Functional Scope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0447" y="2440157"/>
            <a:ext cx="234206" cy="374145"/>
            <a:chOff x="0" y="0"/>
            <a:chExt cx="326479" cy="52155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292608" cy="487680"/>
            </a:xfrm>
            <a:custGeom>
              <a:avLst/>
              <a:gdLst/>
              <a:ahLst/>
              <a:cxnLst/>
              <a:rect r="r" b="b" t="t" l="l"/>
              <a:pathLst>
                <a:path h="48768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6390" cy="521464"/>
            </a:xfrm>
            <a:custGeom>
              <a:avLst/>
              <a:gdLst/>
              <a:ahLst/>
              <a:cxnLst/>
              <a:rect r="r" b="b" t="t" l="l"/>
              <a:pathLst>
                <a:path h="521464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504571"/>
                  </a:lnTo>
                  <a:cubicBezTo>
                    <a:pt x="326390" y="513969"/>
                    <a:pt x="318770" y="521462"/>
                    <a:pt x="309499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309499" y="487680"/>
                  </a:lnTo>
                  <a:lnTo>
                    <a:pt x="309499" y="504571"/>
                  </a:lnTo>
                  <a:lnTo>
                    <a:pt x="292608" y="504571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72439" y="2364840"/>
            <a:ext cx="7171867" cy="629725"/>
            <a:chOff x="0" y="0"/>
            <a:chExt cx="9997440" cy="87782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997440" cy="877824"/>
            </a:xfrm>
            <a:custGeom>
              <a:avLst/>
              <a:gdLst/>
              <a:ahLst/>
              <a:cxnLst/>
              <a:rect r="r" b="b" t="t" l="l"/>
              <a:pathLst>
                <a:path h="87782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912" r="0" b="-17191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9974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Accepts traffic records, speed data &amp; camera logs as input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0447" y="3314775"/>
            <a:ext cx="234206" cy="374145"/>
            <a:chOff x="0" y="0"/>
            <a:chExt cx="326479" cy="52155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292608" cy="487680"/>
            </a:xfrm>
            <a:custGeom>
              <a:avLst/>
              <a:gdLst/>
              <a:ahLst/>
              <a:cxnLst/>
              <a:rect r="r" b="b" t="t" l="l"/>
              <a:pathLst>
                <a:path h="48768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26390" cy="521464"/>
            </a:xfrm>
            <a:custGeom>
              <a:avLst/>
              <a:gdLst/>
              <a:ahLst/>
              <a:cxnLst/>
              <a:rect r="r" b="b" t="t" l="l"/>
              <a:pathLst>
                <a:path h="521464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504571"/>
                  </a:lnTo>
                  <a:cubicBezTo>
                    <a:pt x="326390" y="513969"/>
                    <a:pt x="318770" y="521462"/>
                    <a:pt x="309499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309499" y="487680"/>
                  </a:lnTo>
                  <a:lnTo>
                    <a:pt x="309499" y="504571"/>
                  </a:lnTo>
                  <a:lnTo>
                    <a:pt x="292608" y="504571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72439" y="3239458"/>
            <a:ext cx="7171867" cy="629725"/>
            <a:chOff x="0" y="0"/>
            <a:chExt cx="9997440" cy="87782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997440" cy="877824"/>
            </a:xfrm>
            <a:custGeom>
              <a:avLst/>
              <a:gdLst/>
              <a:ahLst/>
              <a:cxnLst/>
              <a:rect r="r" b="b" t="t" l="l"/>
              <a:pathLst>
                <a:path h="87782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912" r="0" b="-17191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99974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Predicts violation probability and risk zone classification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0447" y="4189393"/>
            <a:ext cx="234206" cy="374145"/>
            <a:chOff x="0" y="0"/>
            <a:chExt cx="326479" cy="52155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292608" cy="487680"/>
            </a:xfrm>
            <a:custGeom>
              <a:avLst/>
              <a:gdLst/>
              <a:ahLst/>
              <a:cxnLst/>
              <a:rect r="r" b="b" t="t" l="l"/>
              <a:pathLst>
                <a:path h="48768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565C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26390" cy="521464"/>
            </a:xfrm>
            <a:custGeom>
              <a:avLst/>
              <a:gdLst/>
              <a:ahLst/>
              <a:cxnLst/>
              <a:rect r="r" b="b" t="t" l="l"/>
              <a:pathLst>
                <a:path h="521464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504571"/>
                  </a:lnTo>
                  <a:cubicBezTo>
                    <a:pt x="326390" y="513969"/>
                    <a:pt x="318770" y="521462"/>
                    <a:pt x="309499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309499" y="487680"/>
                  </a:lnTo>
                  <a:lnTo>
                    <a:pt x="309499" y="504571"/>
                  </a:lnTo>
                  <a:lnTo>
                    <a:pt x="292608" y="504571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72439" y="4114076"/>
            <a:ext cx="7171867" cy="629725"/>
            <a:chOff x="0" y="0"/>
            <a:chExt cx="9997440" cy="87782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997440" cy="877824"/>
            </a:xfrm>
            <a:custGeom>
              <a:avLst/>
              <a:gdLst/>
              <a:ahLst/>
              <a:cxnLst/>
              <a:rect r="r" b="b" t="t" l="l"/>
              <a:pathLst>
                <a:path h="87782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912" r="0" b="-17191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9974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Generates heatmaps and high-risk segment lists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738011" y="1559462"/>
            <a:ext cx="7908004" cy="3709838"/>
            <a:chOff x="0" y="0"/>
            <a:chExt cx="11023600" cy="51714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25400" y="25400"/>
              <a:ext cx="109728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023600" cy="5171440"/>
            </a:xfrm>
            <a:custGeom>
              <a:avLst/>
              <a:gdLst/>
              <a:ahLst/>
              <a:cxnLst/>
              <a:rect r="r" b="b" t="t" l="l"/>
              <a:pathLst>
                <a:path h="5171440" w="11023600">
                  <a:moveTo>
                    <a:pt x="25400" y="0"/>
                  </a:moveTo>
                  <a:lnTo>
                    <a:pt x="10998200" y="0"/>
                  </a:lnTo>
                  <a:cubicBezTo>
                    <a:pt x="11012170" y="0"/>
                    <a:pt x="11023600" y="11430"/>
                    <a:pt x="11023600" y="25400"/>
                  </a:cubicBezTo>
                  <a:lnTo>
                    <a:pt x="11023600" y="5146040"/>
                  </a:lnTo>
                  <a:cubicBezTo>
                    <a:pt x="11023600" y="5160010"/>
                    <a:pt x="11012170" y="5171440"/>
                    <a:pt x="10998200" y="5171440"/>
                  </a:cubicBezTo>
                  <a:lnTo>
                    <a:pt x="25400" y="5171440"/>
                  </a:lnTo>
                  <a:cubicBezTo>
                    <a:pt x="11430" y="5171440"/>
                    <a:pt x="0" y="5160010"/>
                    <a:pt x="0" y="51460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5146040"/>
                  </a:lnTo>
                  <a:lnTo>
                    <a:pt x="25400" y="5146040"/>
                  </a:lnTo>
                  <a:lnTo>
                    <a:pt x="25400" y="5120640"/>
                  </a:lnTo>
                  <a:lnTo>
                    <a:pt x="10998200" y="5120640"/>
                  </a:lnTo>
                  <a:lnTo>
                    <a:pt x="10998200" y="5146040"/>
                  </a:lnTo>
                  <a:lnTo>
                    <a:pt x="10972800" y="5146040"/>
                  </a:lnTo>
                  <a:lnTo>
                    <a:pt x="10972800" y="25400"/>
                  </a:lnTo>
                  <a:lnTo>
                    <a:pt x="10998200" y="25400"/>
                  </a:lnTo>
                  <a:lnTo>
                    <a:pt x="10998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6A1B9A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744088" y="1565539"/>
            <a:ext cx="7895859" cy="723992"/>
            <a:chOff x="0" y="0"/>
            <a:chExt cx="11006671" cy="100923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1097280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6A1B9A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00658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992251"/>
                  </a:lnTo>
                  <a:cubicBezTo>
                    <a:pt x="11006582" y="1001649"/>
                    <a:pt x="10998962" y="1009142"/>
                    <a:pt x="1098969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0989691" y="975360"/>
                  </a:lnTo>
                  <a:lnTo>
                    <a:pt x="10989691" y="992251"/>
                  </a:lnTo>
                  <a:lnTo>
                    <a:pt x="10972800" y="9922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A1B9A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931156" y="1577684"/>
            <a:ext cx="7521714" cy="699694"/>
            <a:chOff x="0" y="0"/>
            <a:chExt cx="10485120" cy="9753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485120" cy="975360"/>
            </a:xfrm>
            <a:custGeom>
              <a:avLst/>
              <a:gdLst/>
              <a:ahLst/>
              <a:cxnLst/>
              <a:rect r="r" b="b" t="t" l="l"/>
              <a:pathLst>
                <a:path h="9753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104851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Application Scope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006473" y="2440157"/>
            <a:ext cx="234206" cy="374145"/>
            <a:chOff x="0" y="0"/>
            <a:chExt cx="326479" cy="52155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292608" cy="487680"/>
            </a:xfrm>
            <a:custGeom>
              <a:avLst/>
              <a:gdLst/>
              <a:ahLst/>
              <a:cxnLst/>
              <a:rect r="r" b="b" t="t" l="l"/>
              <a:pathLst>
                <a:path h="48768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6A1B9A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26390" cy="521464"/>
            </a:xfrm>
            <a:custGeom>
              <a:avLst/>
              <a:gdLst/>
              <a:ahLst/>
              <a:cxnLst/>
              <a:rect r="r" b="b" t="t" l="l"/>
              <a:pathLst>
                <a:path h="521464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504571"/>
                  </a:lnTo>
                  <a:cubicBezTo>
                    <a:pt x="326390" y="513969"/>
                    <a:pt x="318770" y="521462"/>
                    <a:pt x="309499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309499" y="487680"/>
                  </a:lnTo>
                  <a:lnTo>
                    <a:pt x="309499" y="504571"/>
                  </a:lnTo>
                  <a:lnTo>
                    <a:pt x="292608" y="504571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A1B9A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368465" y="2364840"/>
            <a:ext cx="7171867" cy="629725"/>
            <a:chOff x="0" y="0"/>
            <a:chExt cx="9997440" cy="87782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997440" cy="877824"/>
            </a:xfrm>
            <a:custGeom>
              <a:avLst/>
              <a:gdLst/>
              <a:ahLst/>
              <a:cxnLst/>
              <a:rect r="r" b="b" t="t" l="l"/>
              <a:pathLst>
                <a:path h="87782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912" r="0" b="-17191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99974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Used by city traffic departments and smart city platforms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006473" y="3314775"/>
            <a:ext cx="234206" cy="374145"/>
            <a:chOff x="0" y="0"/>
            <a:chExt cx="326479" cy="52155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292608" cy="487680"/>
            </a:xfrm>
            <a:custGeom>
              <a:avLst/>
              <a:gdLst/>
              <a:ahLst/>
              <a:cxnLst/>
              <a:rect r="r" b="b" t="t" l="l"/>
              <a:pathLst>
                <a:path h="48768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6A1B9A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26390" cy="521464"/>
            </a:xfrm>
            <a:custGeom>
              <a:avLst/>
              <a:gdLst/>
              <a:ahLst/>
              <a:cxnLst/>
              <a:rect r="r" b="b" t="t" l="l"/>
              <a:pathLst>
                <a:path h="521464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504571"/>
                  </a:lnTo>
                  <a:cubicBezTo>
                    <a:pt x="326390" y="513969"/>
                    <a:pt x="318770" y="521462"/>
                    <a:pt x="309499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309499" y="487680"/>
                  </a:lnTo>
                  <a:lnTo>
                    <a:pt x="309499" y="504571"/>
                  </a:lnTo>
                  <a:lnTo>
                    <a:pt x="292608" y="504571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A1B9A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0368465" y="3239458"/>
            <a:ext cx="7171867" cy="629725"/>
            <a:chOff x="0" y="0"/>
            <a:chExt cx="9997440" cy="87782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997440" cy="877824"/>
            </a:xfrm>
            <a:custGeom>
              <a:avLst/>
              <a:gdLst/>
              <a:ahLst/>
              <a:cxnLst/>
              <a:rect r="r" b="b" t="t" l="l"/>
              <a:pathLst>
                <a:path h="87782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912" r="0" b="-17191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99974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Assists police in proactive patrol zone planning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006473" y="4189393"/>
            <a:ext cx="234206" cy="374145"/>
            <a:chOff x="0" y="0"/>
            <a:chExt cx="326479" cy="52155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292608" cy="487680"/>
            </a:xfrm>
            <a:custGeom>
              <a:avLst/>
              <a:gdLst/>
              <a:ahLst/>
              <a:cxnLst/>
              <a:rect r="r" b="b" t="t" l="l"/>
              <a:pathLst>
                <a:path h="48768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6A1B9A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26390" cy="521464"/>
            </a:xfrm>
            <a:custGeom>
              <a:avLst/>
              <a:gdLst/>
              <a:ahLst/>
              <a:cxnLst/>
              <a:rect r="r" b="b" t="t" l="l"/>
              <a:pathLst>
                <a:path h="521464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504571"/>
                  </a:lnTo>
                  <a:cubicBezTo>
                    <a:pt x="326390" y="513969"/>
                    <a:pt x="318770" y="521462"/>
                    <a:pt x="309499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309499" y="487680"/>
                  </a:lnTo>
                  <a:lnTo>
                    <a:pt x="309499" y="504571"/>
                  </a:lnTo>
                  <a:lnTo>
                    <a:pt x="292608" y="504571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A1B9A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368465" y="4114076"/>
            <a:ext cx="7171867" cy="629725"/>
            <a:chOff x="0" y="0"/>
            <a:chExt cx="9997440" cy="87782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997440" cy="877824"/>
            </a:xfrm>
            <a:custGeom>
              <a:avLst/>
              <a:gdLst/>
              <a:ahLst/>
              <a:cxnLst/>
              <a:rect r="r" b="b" t="t" l="l"/>
              <a:pathLst>
                <a:path h="87782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912" r="0" b="-17191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99974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 integrate with government road-safety schemes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41985" y="5624278"/>
            <a:ext cx="7908004" cy="3709838"/>
            <a:chOff x="0" y="0"/>
            <a:chExt cx="11023600" cy="51714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25400" y="25400"/>
              <a:ext cx="109728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1023600" cy="5171440"/>
            </a:xfrm>
            <a:custGeom>
              <a:avLst/>
              <a:gdLst/>
              <a:ahLst/>
              <a:cxnLst/>
              <a:rect r="r" b="b" t="t" l="l"/>
              <a:pathLst>
                <a:path h="5171440" w="11023600">
                  <a:moveTo>
                    <a:pt x="25400" y="0"/>
                  </a:moveTo>
                  <a:lnTo>
                    <a:pt x="10998200" y="0"/>
                  </a:lnTo>
                  <a:cubicBezTo>
                    <a:pt x="11012170" y="0"/>
                    <a:pt x="11023600" y="11430"/>
                    <a:pt x="11023600" y="25400"/>
                  </a:cubicBezTo>
                  <a:lnTo>
                    <a:pt x="11023600" y="5146040"/>
                  </a:lnTo>
                  <a:cubicBezTo>
                    <a:pt x="11023600" y="5160010"/>
                    <a:pt x="11012170" y="5171440"/>
                    <a:pt x="10998200" y="5171440"/>
                  </a:cubicBezTo>
                  <a:lnTo>
                    <a:pt x="25400" y="5171440"/>
                  </a:lnTo>
                  <a:cubicBezTo>
                    <a:pt x="11430" y="5171440"/>
                    <a:pt x="0" y="5160010"/>
                    <a:pt x="0" y="51460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5146040"/>
                  </a:lnTo>
                  <a:lnTo>
                    <a:pt x="25400" y="5146040"/>
                  </a:lnTo>
                  <a:lnTo>
                    <a:pt x="25400" y="5120640"/>
                  </a:lnTo>
                  <a:lnTo>
                    <a:pt x="10998200" y="5120640"/>
                  </a:lnTo>
                  <a:lnTo>
                    <a:pt x="10998200" y="5146040"/>
                  </a:lnTo>
                  <a:lnTo>
                    <a:pt x="10972800" y="5146040"/>
                  </a:lnTo>
                  <a:lnTo>
                    <a:pt x="10972800" y="25400"/>
                  </a:lnTo>
                  <a:lnTo>
                    <a:pt x="10998200" y="25400"/>
                  </a:lnTo>
                  <a:lnTo>
                    <a:pt x="10998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B71C1C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648062" y="5630355"/>
            <a:ext cx="7895859" cy="723992"/>
            <a:chOff x="0" y="0"/>
            <a:chExt cx="11006671" cy="100923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6891" y="16891"/>
              <a:ext cx="1097280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B71C1C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100658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992251"/>
                  </a:lnTo>
                  <a:cubicBezTo>
                    <a:pt x="11006582" y="1001649"/>
                    <a:pt x="10998962" y="1009142"/>
                    <a:pt x="1098969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0989691" y="975360"/>
                  </a:lnTo>
                  <a:lnTo>
                    <a:pt x="10989691" y="992251"/>
                  </a:lnTo>
                  <a:lnTo>
                    <a:pt x="10972800" y="9922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71C1C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835130" y="5642500"/>
            <a:ext cx="7521714" cy="699694"/>
            <a:chOff x="0" y="0"/>
            <a:chExt cx="10485120" cy="9753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485120" cy="975360"/>
            </a:xfrm>
            <a:custGeom>
              <a:avLst/>
              <a:gdLst/>
              <a:ahLst/>
              <a:cxnLst/>
              <a:rect r="r" b="b" t="t" l="l"/>
              <a:pathLst>
                <a:path h="9753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104851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Business Scope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10447" y="6504973"/>
            <a:ext cx="234206" cy="374145"/>
            <a:chOff x="0" y="0"/>
            <a:chExt cx="326479" cy="52155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891" y="16891"/>
              <a:ext cx="292608" cy="487680"/>
            </a:xfrm>
            <a:custGeom>
              <a:avLst/>
              <a:gdLst/>
              <a:ahLst/>
              <a:cxnLst/>
              <a:rect r="r" b="b" t="t" l="l"/>
              <a:pathLst>
                <a:path h="48768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B71C1C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26390" cy="521464"/>
            </a:xfrm>
            <a:custGeom>
              <a:avLst/>
              <a:gdLst/>
              <a:ahLst/>
              <a:cxnLst/>
              <a:rect r="r" b="b" t="t" l="l"/>
              <a:pathLst>
                <a:path h="521464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504571"/>
                  </a:lnTo>
                  <a:cubicBezTo>
                    <a:pt x="326390" y="513969"/>
                    <a:pt x="318770" y="521462"/>
                    <a:pt x="309499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309499" y="487680"/>
                  </a:lnTo>
                  <a:lnTo>
                    <a:pt x="309499" y="504571"/>
                  </a:lnTo>
                  <a:lnTo>
                    <a:pt x="292608" y="504571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71C1C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272439" y="6429656"/>
            <a:ext cx="7171867" cy="629725"/>
            <a:chOff x="0" y="0"/>
            <a:chExt cx="9997440" cy="87782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997440" cy="877824"/>
            </a:xfrm>
            <a:custGeom>
              <a:avLst/>
              <a:gdLst/>
              <a:ahLst/>
              <a:cxnLst/>
              <a:rect r="r" b="b" t="t" l="l"/>
              <a:pathLst>
                <a:path h="87782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912" r="0" b="-171912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99974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Reduces accident rates and congestion in urban areas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10447" y="7379591"/>
            <a:ext cx="234206" cy="374145"/>
            <a:chOff x="0" y="0"/>
            <a:chExt cx="326479" cy="52155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292608" cy="487680"/>
            </a:xfrm>
            <a:custGeom>
              <a:avLst/>
              <a:gdLst/>
              <a:ahLst/>
              <a:cxnLst/>
              <a:rect r="r" b="b" t="t" l="l"/>
              <a:pathLst>
                <a:path h="48768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B71C1C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26390" cy="521464"/>
            </a:xfrm>
            <a:custGeom>
              <a:avLst/>
              <a:gdLst/>
              <a:ahLst/>
              <a:cxnLst/>
              <a:rect r="r" b="b" t="t" l="l"/>
              <a:pathLst>
                <a:path h="521464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504571"/>
                  </a:lnTo>
                  <a:cubicBezTo>
                    <a:pt x="326390" y="513969"/>
                    <a:pt x="318770" y="521462"/>
                    <a:pt x="309499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309499" y="487680"/>
                  </a:lnTo>
                  <a:lnTo>
                    <a:pt x="309499" y="504571"/>
                  </a:lnTo>
                  <a:lnTo>
                    <a:pt x="292608" y="504571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71C1C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272439" y="7304274"/>
            <a:ext cx="7171867" cy="629725"/>
            <a:chOff x="0" y="0"/>
            <a:chExt cx="9997440" cy="87782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9997440" cy="877824"/>
            </a:xfrm>
            <a:custGeom>
              <a:avLst/>
              <a:gdLst/>
              <a:ahLst/>
              <a:cxnLst/>
              <a:rect r="r" b="b" t="t" l="l"/>
              <a:pathLst>
                <a:path h="87782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912" r="0" b="-171912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99974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Enables faster, data-driven traffic management decisions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10447" y="8254209"/>
            <a:ext cx="234206" cy="374145"/>
            <a:chOff x="0" y="0"/>
            <a:chExt cx="326479" cy="521551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6891" y="16891"/>
              <a:ext cx="292608" cy="487680"/>
            </a:xfrm>
            <a:custGeom>
              <a:avLst/>
              <a:gdLst/>
              <a:ahLst/>
              <a:cxnLst/>
              <a:rect r="r" b="b" t="t" l="l"/>
              <a:pathLst>
                <a:path h="48768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B71C1C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26390" cy="521464"/>
            </a:xfrm>
            <a:custGeom>
              <a:avLst/>
              <a:gdLst/>
              <a:ahLst/>
              <a:cxnLst/>
              <a:rect r="r" b="b" t="t" l="l"/>
              <a:pathLst>
                <a:path h="521464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504571"/>
                  </a:lnTo>
                  <a:cubicBezTo>
                    <a:pt x="326390" y="513969"/>
                    <a:pt x="318770" y="521462"/>
                    <a:pt x="309499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309499" y="487680"/>
                  </a:lnTo>
                  <a:lnTo>
                    <a:pt x="309499" y="504571"/>
                  </a:lnTo>
                  <a:lnTo>
                    <a:pt x="292608" y="504571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71C1C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272439" y="8178892"/>
            <a:ext cx="7171867" cy="629725"/>
            <a:chOff x="0" y="0"/>
            <a:chExt cx="9997440" cy="87782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997440" cy="877824"/>
            </a:xfrm>
            <a:custGeom>
              <a:avLst/>
              <a:gdLst/>
              <a:ahLst/>
              <a:cxnLst/>
              <a:rect r="r" b="b" t="t" l="l"/>
              <a:pathLst>
                <a:path h="87782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912" r="0" b="-17191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99974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Improves public safety and lowers operational costs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738011" y="5624278"/>
            <a:ext cx="7908004" cy="3709838"/>
            <a:chOff x="0" y="0"/>
            <a:chExt cx="11023600" cy="51714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25400" y="25400"/>
              <a:ext cx="10972800" cy="5120640"/>
            </a:xfrm>
            <a:custGeom>
              <a:avLst/>
              <a:gdLst/>
              <a:ahLst/>
              <a:cxnLst/>
              <a:rect r="r" b="b" t="t" l="l"/>
              <a:pathLst>
                <a:path h="5120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1023600" cy="5171440"/>
            </a:xfrm>
            <a:custGeom>
              <a:avLst/>
              <a:gdLst/>
              <a:ahLst/>
              <a:cxnLst/>
              <a:rect r="r" b="b" t="t" l="l"/>
              <a:pathLst>
                <a:path h="5171440" w="11023600">
                  <a:moveTo>
                    <a:pt x="25400" y="0"/>
                  </a:moveTo>
                  <a:lnTo>
                    <a:pt x="10998200" y="0"/>
                  </a:lnTo>
                  <a:cubicBezTo>
                    <a:pt x="11012170" y="0"/>
                    <a:pt x="11023600" y="11430"/>
                    <a:pt x="11023600" y="25400"/>
                  </a:cubicBezTo>
                  <a:lnTo>
                    <a:pt x="11023600" y="5146040"/>
                  </a:lnTo>
                  <a:cubicBezTo>
                    <a:pt x="11023600" y="5160010"/>
                    <a:pt x="11012170" y="5171440"/>
                    <a:pt x="10998200" y="5171440"/>
                  </a:cubicBezTo>
                  <a:lnTo>
                    <a:pt x="25400" y="5171440"/>
                  </a:lnTo>
                  <a:cubicBezTo>
                    <a:pt x="11430" y="5171440"/>
                    <a:pt x="0" y="5160010"/>
                    <a:pt x="0" y="514604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5146040"/>
                  </a:lnTo>
                  <a:lnTo>
                    <a:pt x="25400" y="5146040"/>
                  </a:lnTo>
                  <a:lnTo>
                    <a:pt x="25400" y="5120640"/>
                  </a:lnTo>
                  <a:lnTo>
                    <a:pt x="10998200" y="5120640"/>
                  </a:lnTo>
                  <a:lnTo>
                    <a:pt x="10998200" y="5146040"/>
                  </a:lnTo>
                  <a:lnTo>
                    <a:pt x="10972800" y="5146040"/>
                  </a:lnTo>
                  <a:lnTo>
                    <a:pt x="10972800" y="25400"/>
                  </a:lnTo>
                  <a:lnTo>
                    <a:pt x="10998200" y="25400"/>
                  </a:lnTo>
                  <a:lnTo>
                    <a:pt x="109982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65100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9744088" y="5630355"/>
            <a:ext cx="7895859" cy="723992"/>
            <a:chOff x="0" y="0"/>
            <a:chExt cx="11006671" cy="100923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16891" y="16891"/>
              <a:ext cx="1097280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E65100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100658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992251"/>
                  </a:lnTo>
                  <a:cubicBezTo>
                    <a:pt x="11006582" y="1001649"/>
                    <a:pt x="10998962" y="1009142"/>
                    <a:pt x="1098969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0989691" y="975360"/>
                  </a:lnTo>
                  <a:lnTo>
                    <a:pt x="10989691" y="992251"/>
                  </a:lnTo>
                  <a:lnTo>
                    <a:pt x="10972800" y="9922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65100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9931156" y="5642500"/>
            <a:ext cx="7521714" cy="699694"/>
            <a:chOff x="0" y="0"/>
            <a:chExt cx="10485120" cy="97536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0485120" cy="975360"/>
            </a:xfrm>
            <a:custGeom>
              <a:avLst/>
              <a:gdLst/>
              <a:ahLst/>
              <a:cxnLst/>
              <a:rect r="r" b="b" t="t" l="l"/>
              <a:pathLst>
                <a:path h="9753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47625"/>
              <a:ext cx="104851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 Technical Scope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0006473" y="6504973"/>
            <a:ext cx="234206" cy="374145"/>
            <a:chOff x="0" y="0"/>
            <a:chExt cx="326479" cy="521551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16891" y="16891"/>
              <a:ext cx="292608" cy="487680"/>
            </a:xfrm>
            <a:custGeom>
              <a:avLst/>
              <a:gdLst/>
              <a:ahLst/>
              <a:cxnLst/>
              <a:rect r="r" b="b" t="t" l="l"/>
              <a:pathLst>
                <a:path h="48768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E65100"/>
            </a:solidFill>
          </p:spPr>
        </p:sp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26390" cy="521464"/>
            </a:xfrm>
            <a:custGeom>
              <a:avLst/>
              <a:gdLst/>
              <a:ahLst/>
              <a:cxnLst/>
              <a:rect r="r" b="b" t="t" l="l"/>
              <a:pathLst>
                <a:path h="521464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504571"/>
                  </a:lnTo>
                  <a:cubicBezTo>
                    <a:pt x="326390" y="513969"/>
                    <a:pt x="318770" y="521462"/>
                    <a:pt x="309499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309499" y="487680"/>
                  </a:lnTo>
                  <a:lnTo>
                    <a:pt x="309499" y="504571"/>
                  </a:lnTo>
                  <a:lnTo>
                    <a:pt x="292608" y="504571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6510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0368465" y="6429656"/>
            <a:ext cx="7171867" cy="629725"/>
            <a:chOff x="0" y="0"/>
            <a:chExt cx="9997440" cy="877824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9997440" cy="877824"/>
            </a:xfrm>
            <a:custGeom>
              <a:avLst/>
              <a:gdLst/>
              <a:ahLst/>
              <a:cxnLst/>
              <a:rect r="r" b="b" t="t" l="l"/>
              <a:pathLst>
                <a:path h="87782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912" r="0" b="-171912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47625"/>
              <a:ext cx="99974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stack: Pandas, NumPy, OpenCV, Scikit-learn, Matplotlib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0006473" y="7379591"/>
            <a:ext cx="234206" cy="374145"/>
            <a:chOff x="0" y="0"/>
            <a:chExt cx="326479" cy="521551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16891" y="16891"/>
              <a:ext cx="292608" cy="487680"/>
            </a:xfrm>
            <a:custGeom>
              <a:avLst/>
              <a:gdLst/>
              <a:ahLst/>
              <a:cxnLst/>
              <a:rect r="r" b="b" t="t" l="l"/>
              <a:pathLst>
                <a:path h="48768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E65100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26390" cy="521464"/>
            </a:xfrm>
            <a:custGeom>
              <a:avLst/>
              <a:gdLst/>
              <a:ahLst/>
              <a:cxnLst/>
              <a:rect r="r" b="b" t="t" l="l"/>
              <a:pathLst>
                <a:path h="521464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504571"/>
                  </a:lnTo>
                  <a:cubicBezTo>
                    <a:pt x="326390" y="513969"/>
                    <a:pt x="318770" y="521462"/>
                    <a:pt x="309499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309499" y="487680"/>
                  </a:lnTo>
                  <a:lnTo>
                    <a:pt x="309499" y="504571"/>
                  </a:lnTo>
                  <a:lnTo>
                    <a:pt x="292608" y="504571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6510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0368465" y="7304274"/>
            <a:ext cx="7171867" cy="629725"/>
            <a:chOff x="0" y="0"/>
            <a:chExt cx="9997440" cy="877824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9997440" cy="877824"/>
            </a:xfrm>
            <a:custGeom>
              <a:avLst/>
              <a:gdLst/>
              <a:ahLst/>
              <a:cxnLst/>
              <a:rect r="r" b="b" t="t" l="l"/>
              <a:pathLst>
                <a:path h="87782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912" r="0" b="-171912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47625"/>
              <a:ext cx="99974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Deployment via Flask/Streamlit dashboard with real-time alerts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0006473" y="8254209"/>
            <a:ext cx="234206" cy="374145"/>
            <a:chOff x="0" y="0"/>
            <a:chExt cx="326479" cy="521551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16891" y="16891"/>
              <a:ext cx="292608" cy="487680"/>
            </a:xfrm>
            <a:custGeom>
              <a:avLst/>
              <a:gdLst/>
              <a:ahLst/>
              <a:cxnLst/>
              <a:rect r="r" b="b" t="t" l="l"/>
              <a:pathLst>
                <a:path h="48768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E65100"/>
            </a:solidFill>
          </p:spPr>
        </p:sp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326390" cy="521464"/>
            </a:xfrm>
            <a:custGeom>
              <a:avLst/>
              <a:gdLst/>
              <a:ahLst/>
              <a:cxnLst/>
              <a:rect r="r" b="b" t="t" l="l"/>
              <a:pathLst>
                <a:path h="521464" w="326390">
                  <a:moveTo>
                    <a:pt x="16891" y="0"/>
                  </a:moveTo>
                  <a:lnTo>
                    <a:pt x="309499" y="0"/>
                  </a:lnTo>
                  <a:cubicBezTo>
                    <a:pt x="318897" y="0"/>
                    <a:pt x="326390" y="7620"/>
                    <a:pt x="326390" y="16891"/>
                  </a:cubicBezTo>
                  <a:lnTo>
                    <a:pt x="326390" y="504571"/>
                  </a:lnTo>
                  <a:cubicBezTo>
                    <a:pt x="326390" y="513969"/>
                    <a:pt x="318770" y="521462"/>
                    <a:pt x="309499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309499" y="487680"/>
                  </a:lnTo>
                  <a:lnTo>
                    <a:pt x="309499" y="504571"/>
                  </a:lnTo>
                  <a:lnTo>
                    <a:pt x="292608" y="504571"/>
                  </a:lnTo>
                  <a:lnTo>
                    <a:pt x="292608" y="16891"/>
                  </a:lnTo>
                  <a:lnTo>
                    <a:pt x="309499" y="16891"/>
                  </a:lnTo>
                  <a:lnTo>
                    <a:pt x="3094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6510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0368465" y="8178892"/>
            <a:ext cx="7171867" cy="629725"/>
            <a:chOff x="0" y="0"/>
            <a:chExt cx="9997440" cy="877824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9997440" cy="877824"/>
            </a:xfrm>
            <a:custGeom>
              <a:avLst/>
              <a:gdLst/>
              <a:ahLst/>
              <a:cxnLst/>
              <a:rect r="r" b="b" t="t" l="l"/>
              <a:pathLst>
                <a:path h="877824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912" r="0" b="-171912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47625"/>
              <a:ext cx="99974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Scalable architecture supporting cloud integration &amp; live feeds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518" y="9684210"/>
            <a:ext cx="18197512" cy="323850"/>
            <a:chOff x="0" y="0"/>
            <a:chExt cx="24263350" cy="431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63350" cy="431800"/>
            </a:xfrm>
            <a:custGeom>
              <a:avLst/>
              <a:gdLst/>
              <a:ahLst/>
              <a:cxnLst/>
              <a:rect r="r" b="b" t="t" l="l"/>
              <a:pathLst>
                <a:path h="431800" w="24263350">
                  <a:moveTo>
                    <a:pt x="0" y="0"/>
                  </a:moveTo>
                  <a:lnTo>
                    <a:pt x="24263350" y="0"/>
                  </a:lnTo>
                  <a:lnTo>
                    <a:pt x="24263350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name="Group 4" id="4"/>
          <p:cNvGrpSpPr/>
          <p:nvPr/>
        </p:nvGrpSpPr>
        <p:grpSpPr>
          <a:xfrm rot="22320">
            <a:off x="518751" y="1492272"/>
            <a:ext cx="17674009" cy="57150"/>
            <a:chOff x="0" y="0"/>
            <a:chExt cx="23565345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65358" cy="76200"/>
            </a:xfrm>
            <a:custGeom>
              <a:avLst/>
              <a:gdLst/>
              <a:ahLst/>
              <a:cxnLst/>
              <a:rect r="r" b="b" t="t" l="l"/>
              <a:pathLst>
                <a:path h="76200" w="23565358">
                  <a:moveTo>
                    <a:pt x="38100" y="0"/>
                  </a:moveTo>
                  <a:lnTo>
                    <a:pt x="23527258" y="0"/>
                  </a:lnTo>
                  <a:cubicBezTo>
                    <a:pt x="23548341" y="0"/>
                    <a:pt x="23565358" y="17018"/>
                    <a:pt x="23565358" y="38100"/>
                  </a:cubicBezTo>
                  <a:cubicBezTo>
                    <a:pt x="23565358" y="59182"/>
                    <a:pt x="23548341" y="76200"/>
                    <a:pt x="23527258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ubicBezTo>
                    <a:pt x="0" y="17018"/>
                    <a:pt x="17018" y="0"/>
                    <a:pt x="38100" y="0"/>
                  </a:cubicBez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name="Group 6" id="6"/>
          <p:cNvGrpSpPr/>
          <p:nvPr/>
        </p:nvGrpSpPr>
        <p:grpSpPr>
          <a:xfrm rot="21360">
            <a:off x="-143227" y="9436560"/>
            <a:ext cx="18459802" cy="57150"/>
            <a:chOff x="0" y="0"/>
            <a:chExt cx="24613070" cy="76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613108" cy="76200"/>
            </a:xfrm>
            <a:custGeom>
              <a:avLst/>
              <a:gdLst/>
              <a:ahLst/>
              <a:cxnLst/>
              <a:rect r="r" b="b" t="t" l="l"/>
              <a:pathLst>
                <a:path h="76200" w="24613108">
                  <a:moveTo>
                    <a:pt x="38100" y="0"/>
                  </a:moveTo>
                  <a:lnTo>
                    <a:pt x="24575008" y="0"/>
                  </a:lnTo>
                  <a:cubicBezTo>
                    <a:pt x="24596091" y="0"/>
                    <a:pt x="24613108" y="17018"/>
                    <a:pt x="24613108" y="38100"/>
                  </a:cubicBezTo>
                  <a:cubicBezTo>
                    <a:pt x="24613108" y="59182"/>
                    <a:pt x="24596091" y="76200"/>
                    <a:pt x="24575008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ubicBezTo>
                    <a:pt x="0" y="17018"/>
                    <a:pt x="17018" y="0"/>
                    <a:pt x="38100" y="0"/>
                  </a:cubicBez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540458" y="-478565"/>
            <a:ext cx="2486568" cy="2486568"/>
            <a:chOff x="0" y="0"/>
            <a:chExt cx="3315424" cy="33154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15462" cy="3315462"/>
            </a:xfrm>
            <a:custGeom>
              <a:avLst/>
              <a:gdLst/>
              <a:ahLst/>
              <a:cxnLst/>
              <a:rect r="r" b="b" t="t" l="l"/>
              <a:pathLst>
                <a:path h="3315462" w="3315462">
                  <a:moveTo>
                    <a:pt x="0" y="0"/>
                  </a:moveTo>
                  <a:lnTo>
                    <a:pt x="3315462" y="0"/>
                  </a:lnTo>
                  <a:lnTo>
                    <a:pt x="3315462" y="3315462"/>
                  </a:lnTo>
                  <a:lnTo>
                    <a:pt x="0" y="33154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942567" y="477183"/>
            <a:ext cx="15590549" cy="62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0000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Future Scope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60743" y="9712052"/>
            <a:ext cx="10437524" cy="592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16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DEPARTMENT OF COMPUTER ENGINEERING,  Sanjivani COE, Kopargaon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85931" y="9686592"/>
            <a:ext cx="219601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b="true" sz="2100" spc="1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7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27383" y="1682239"/>
            <a:ext cx="665483" cy="866651"/>
            <a:chOff x="0" y="0"/>
            <a:chExt cx="887311" cy="11555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8534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87222" cy="1155448"/>
            </a:xfrm>
            <a:custGeom>
              <a:avLst/>
              <a:gdLst/>
              <a:ahLst/>
              <a:cxnLst/>
              <a:rect r="r" b="b" t="t" l="l"/>
              <a:pathLst>
                <a:path h="1155448" w="887222">
                  <a:moveTo>
                    <a:pt x="16891" y="0"/>
                  </a:moveTo>
                  <a:lnTo>
                    <a:pt x="870331" y="0"/>
                  </a:lnTo>
                  <a:cubicBezTo>
                    <a:pt x="879729" y="0"/>
                    <a:pt x="887222" y="7620"/>
                    <a:pt x="887222" y="16891"/>
                  </a:cubicBezTo>
                  <a:lnTo>
                    <a:pt x="887222" y="1138555"/>
                  </a:lnTo>
                  <a:cubicBezTo>
                    <a:pt x="887222" y="1147953"/>
                    <a:pt x="879602" y="1155446"/>
                    <a:pt x="87033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870331" y="1121664"/>
                  </a:lnTo>
                  <a:lnTo>
                    <a:pt x="870331" y="1138555"/>
                  </a:lnTo>
                  <a:lnTo>
                    <a:pt x="853440" y="1138555"/>
                  </a:lnTo>
                  <a:lnTo>
                    <a:pt x="853440" y="16891"/>
                  </a:lnTo>
                  <a:lnTo>
                    <a:pt x="870331" y="16891"/>
                  </a:lnTo>
                  <a:lnTo>
                    <a:pt x="870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40080" y="1694936"/>
            <a:ext cx="640080" cy="841248"/>
            <a:chOff x="0" y="0"/>
            <a:chExt cx="853440" cy="11216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534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627" t="0" r="-118627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853440" cy="11788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➤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61437" y="1684772"/>
            <a:ext cx="11907517" cy="861565"/>
            <a:chOff x="0" y="0"/>
            <a:chExt cx="15876689" cy="114875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3589" y="13589"/>
              <a:ext cx="15849601" cy="1121664"/>
            </a:xfrm>
            <a:custGeom>
              <a:avLst/>
              <a:gdLst/>
              <a:ahLst/>
              <a:cxnLst/>
              <a:rect r="r" b="b" t="t" l="l"/>
              <a:pathLst>
                <a:path h="1121664" w="15849601">
                  <a:moveTo>
                    <a:pt x="0" y="0"/>
                  </a:moveTo>
                  <a:lnTo>
                    <a:pt x="15849601" y="0"/>
                  </a:lnTo>
                  <a:lnTo>
                    <a:pt x="15849601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876778" cy="1148842"/>
            </a:xfrm>
            <a:custGeom>
              <a:avLst/>
              <a:gdLst/>
              <a:ahLst/>
              <a:cxnLst/>
              <a:rect r="r" b="b" t="t" l="l"/>
              <a:pathLst>
                <a:path h="1148842" w="15876778">
                  <a:moveTo>
                    <a:pt x="13589" y="0"/>
                  </a:moveTo>
                  <a:lnTo>
                    <a:pt x="15863190" y="0"/>
                  </a:lnTo>
                  <a:cubicBezTo>
                    <a:pt x="15870682" y="0"/>
                    <a:pt x="15876778" y="6096"/>
                    <a:pt x="15876778" y="13589"/>
                  </a:cubicBezTo>
                  <a:lnTo>
                    <a:pt x="15876778" y="1135253"/>
                  </a:lnTo>
                  <a:cubicBezTo>
                    <a:pt x="15876778" y="1142746"/>
                    <a:pt x="15870682" y="1148842"/>
                    <a:pt x="15863190" y="1148842"/>
                  </a:cubicBezTo>
                  <a:lnTo>
                    <a:pt x="13589" y="1148842"/>
                  </a:lnTo>
                  <a:cubicBezTo>
                    <a:pt x="6096" y="1148715"/>
                    <a:pt x="0" y="1142746"/>
                    <a:pt x="0" y="1135253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135253"/>
                  </a:lnTo>
                  <a:lnTo>
                    <a:pt x="13589" y="1135253"/>
                  </a:lnTo>
                  <a:lnTo>
                    <a:pt x="13589" y="1121664"/>
                  </a:lnTo>
                  <a:lnTo>
                    <a:pt x="15863190" y="1121664"/>
                  </a:lnTo>
                  <a:lnTo>
                    <a:pt x="15863190" y="1135253"/>
                  </a:lnTo>
                  <a:lnTo>
                    <a:pt x="15849600" y="1135253"/>
                  </a:lnTo>
                  <a:lnTo>
                    <a:pt x="15849600" y="13589"/>
                  </a:lnTo>
                  <a:lnTo>
                    <a:pt x="15863190" y="13589"/>
                  </a:lnTo>
                  <a:lnTo>
                    <a:pt x="15863190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554480" y="1694936"/>
            <a:ext cx="11521440" cy="841248"/>
            <a:chOff x="0" y="0"/>
            <a:chExt cx="15361920" cy="11216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3619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860" r="0" b="-21686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536192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Integrate real-time camera streams and live traffic feeds for continuous zone risk updates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27383" y="2997451"/>
            <a:ext cx="665483" cy="866651"/>
            <a:chOff x="0" y="0"/>
            <a:chExt cx="887311" cy="115553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8534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87222" cy="1155448"/>
            </a:xfrm>
            <a:custGeom>
              <a:avLst/>
              <a:gdLst/>
              <a:ahLst/>
              <a:cxnLst/>
              <a:rect r="r" b="b" t="t" l="l"/>
              <a:pathLst>
                <a:path h="1155448" w="887222">
                  <a:moveTo>
                    <a:pt x="16891" y="0"/>
                  </a:moveTo>
                  <a:lnTo>
                    <a:pt x="870331" y="0"/>
                  </a:lnTo>
                  <a:cubicBezTo>
                    <a:pt x="879729" y="0"/>
                    <a:pt x="887222" y="7620"/>
                    <a:pt x="887222" y="16891"/>
                  </a:cubicBezTo>
                  <a:lnTo>
                    <a:pt x="887222" y="1138555"/>
                  </a:lnTo>
                  <a:cubicBezTo>
                    <a:pt x="887222" y="1147953"/>
                    <a:pt x="879602" y="1155446"/>
                    <a:pt x="87033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870331" y="1121664"/>
                  </a:lnTo>
                  <a:lnTo>
                    <a:pt x="870331" y="1138555"/>
                  </a:lnTo>
                  <a:lnTo>
                    <a:pt x="853440" y="1138555"/>
                  </a:lnTo>
                  <a:lnTo>
                    <a:pt x="853440" y="16891"/>
                  </a:lnTo>
                  <a:lnTo>
                    <a:pt x="870331" y="16891"/>
                  </a:lnTo>
                  <a:lnTo>
                    <a:pt x="870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40080" y="3010148"/>
            <a:ext cx="640080" cy="841248"/>
            <a:chOff x="0" y="0"/>
            <a:chExt cx="853440" cy="11216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534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627" t="0" r="-118627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853440" cy="11788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➤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61437" y="2999984"/>
            <a:ext cx="11907517" cy="861565"/>
            <a:chOff x="0" y="0"/>
            <a:chExt cx="15876689" cy="114875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3589" y="13589"/>
              <a:ext cx="15849601" cy="1121664"/>
            </a:xfrm>
            <a:custGeom>
              <a:avLst/>
              <a:gdLst/>
              <a:ahLst/>
              <a:cxnLst/>
              <a:rect r="r" b="b" t="t" l="l"/>
              <a:pathLst>
                <a:path h="1121664" w="15849601">
                  <a:moveTo>
                    <a:pt x="0" y="0"/>
                  </a:moveTo>
                  <a:lnTo>
                    <a:pt x="15849601" y="0"/>
                  </a:lnTo>
                  <a:lnTo>
                    <a:pt x="15849601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8E1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876778" cy="1148842"/>
            </a:xfrm>
            <a:custGeom>
              <a:avLst/>
              <a:gdLst/>
              <a:ahLst/>
              <a:cxnLst/>
              <a:rect r="r" b="b" t="t" l="l"/>
              <a:pathLst>
                <a:path h="1148842" w="15876778">
                  <a:moveTo>
                    <a:pt x="13589" y="0"/>
                  </a:moveTo>
                  <a:lnTo>
                    <a:pt x="15863190" y="0"/>
                  </a:lnTo>
                  <a:cubicBezTo>
                    <a:pt x="15870682" y="0"/>
                    <a:pt x="15876778" y="6096"/>
                    <a:pt x="15876778" y="13589"/>
                  </a:cubicBezTo>
                  <a:lnTo>
                    <a:pt x="15876778" y="1135253"/>
                  </a:lnTo>
                  <a:cubicBezTo>
                    <a:pt x="15876778" y="1142746"/>
                    <a:pt x="15870682" y="1148842"/>
                    <a:pt x="15863190" y="1148842"/>
                  </a:cubicBezTo>
                  <a:lnTo>
                    <a:pt x="13589" y="1148842"/>
                  </a:lnTo>
                  <a:cubicBezTo>
                    <a:pt x="6096" y="1148715"/>
                    <a:pt x="0" y="1142746"/>
                    <a:pt x="0" y="1135253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135253"/>
                  </a:lnTo>
                  <a:lnTo>
                    <a:pt x="13589" y="1135253"/>
                  </a:lnTo>
                  <a:lnTo>
                    <a:pt x="13589" y="1121664"/>
                  </a:lnTo>
                  <a:lnTo>
                    <a:pt x="15863190" y="1121664"/>
                  </a:lnTo>
                  <a:lnTo>
                    <a:pt x="15863190" y="1135253"/>
                  </a:lnTo>
                  <a:lnTo>
                    <a:pt x="15849600" y="1135253"/>
                  </a:lnTo>
                  <a:lnTo>
                    <a:pt x="15849600" y="13589"/>
                  </a:lnTo>
                  <a:lnTo>
                    <a:pt x="15863190" y="13589"/>
                  </a:lnTo>
                  <a:lnTo>
                    <a:pt x="15863190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554480" y="3010148"/>
            <a:ext cx="11521440" cy="841248"/>
            <a:chOff x="0" y="0"/>
            <a:chExt cx="15361920" cy="112166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53619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860" r="0" b="-21686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536192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 advanced Deep Learning models (CNN, LSTM) to enhance prediction from video data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27383" y="4350763"/>
            <a:ext cx="665483" cy="866651"/>
            <a:chOff x="0" y="0"/>
            <a:chExt cx="887311" cy="115553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8534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87222" cy="1155448"/>
            </a:xfrm>
            <a:custGeom>
              <a:avLst/>
              <a:gdLst/>
              <a:ahLst/>
              <a:cxnLst/>
              <a:rect r="r" b="b" t="t" l="l"/>
              <a:pathLst>
                <a:path h="1155448" w="887222">
                  <a:moveTo>
                    <a:pt x="16891" y="0"/>
                  </a:moveTo>
                  <a:lnTo>
                    <a:pt x="870331" y="0"/>
                  </a:lnTo>
                  <a:cubicBezTo>
                    <a:pt x="879729" y="0"/>
                    <a:pt x="887222" y="7620"/>
                    <a:pt x="887222" y="16891"/>
                  </a:cubicBezTo>
                  <a:lnTo>
                    <a:pt x="887222" y="1138555"/>
                  </a:lnTo>
                  <a:cubicBezTo>
                    <a:pt x="887222" y="1147953"/>
                    <a:pt x="879602" y="1155446"/>
                    <a:pt x="87033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870331" y="1121664"/>
                  </a:lnTo>
                  <a:lnTo>
                    <a:pt x="870331" y="1138555"/>
                  </a:lnTo>
                  <a:lnTo>
                    <a:pt x="853440" y="1138555"/>
                  </a:lnTo>
                  <a:lnTo>
                    <a:pt x="853440" y="16891"/>
                  </a:lnTo>
                  <a:lnTo>
                    <a:pt x="870331" y="16891"/>
                  </a:lnTo>
                  <a:lnTo>
                    <a:pt x="870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40080" y="4363460"/>
            <a:ext cx="640080" cy="841248"/>
            <a:chOff x="0" y="0"/>
            <a:chExt cx="853440" cy="11216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534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627" t="0" r="-118627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853440" cy="11788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➤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61437" y="4353296"/>
            <a:ext cx="11907517" cy="861565"/>
            <a:chOff x="0" y="0"/>
            <a:chExt cx="15876689" cy="114875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3589" y="13589"/>
              <a:ext cx="15849601" cy="1121664"/>
            </a:xfrm>
            <a:custGeom>
              <a:avLst/>
              <a:gdLst/>
              <a:ahLst/>
              <a:cxnLst/>
              <a:rect r="r" b="b" t="t" l="l"/>
              <a:pathLst>
                <a:path h="1121664" w="15849601">
                  <a:moveTo>
                    <a:pt x="0" y="0"/>
                  </a:moveTo>
                  <a:lnTo>
                    <a:pt x="15849601" y="0"/>
                  </a:lnTo>
                  <a:lnTo>
                    <a:pt x="15849601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5876778" cy="1148842"/>
            </a:xfrm>
            <a:custGeom>
              <a:avLst/>
              <a:gdLst/>
              <a:ahLst/>
              <a:cxnLst/>
              <a:rect r="r" b="b" t="t" l="l"/>
              <a:pathLst>
                <a:path h="1148842" w="15876778">
                  <a:moveTo>
                    <a:pt x="13589" y="0"/>
                  </a:moveTo>
                  <a:lnTo>
                    <a:pt x="15863190" y="0"/>
                  </a:lnTo>
                  <a:cubicBezTo>
                    <a:pt x="15870682" y="0"/>
                    <a:pt x="15876778" y="6096"/>
                    <a:pt x="15876778" y="13589"/>
                  </a:cubicBezTo>
                  <a:lnTo>
                    <a:pt x="15876778" y="1135253"/>
                  </a:lnTo>
                  <a:cubicBezTo>
                    <a:pt x="15876778" y="1142746"/>
                    <a:pt x="15870682" y="1148842"/>
                    <a:pt x="15863190" y="1148842"/>
                  </a:cubicBezTo>
                  <a:lnTo>
                    <a:pt x="13589" y="1148842"/>
                  </a:lnTo>
                  <a:cubicBezTo>
                    <a:pt x="6096" y="1148715"/>
                    <a:pt x="0" y="1142746"/>
                    <a:pt x="0" y="1135253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135253"/>
                  </a:lnTo>
                  <a:lnTo>
                    <a:pt x="13589" y="1135253"/>
                  </a:lnTo>
                  <a:lnTo>
                    <a:pt x="13589" y="1121664"/>
                  </a:lnTo>
                  <a:lnTo>
                    <a:pt x="15863190" y="1121664"/>
                  </a:lnTo>
                  <a:lnTo>
                    <a:pt x="15863190" y="1135253"/>
                  </a:lnTo>
                  <a:lnTo>
                    <a:pt x="15849600" y="1135253"/>
                  </a:lnTo>
                  <a:lnTo>
                    <a:pt x="15849600" y="13589"/>
                  </a:lnTo>
                  <a:lnTo>
                    <a:pt x="15863190" y="13589"/>
                  </a:lnTo>
                  <a:lnTo>
                    <a:pt x="15863190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54480" y="4363460"/>
            <a:ext cx="11521440" cy="841248"/>
            <a:chOff x="0" y="0"/>
            <a:chExt cx="15361920" cy="112166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53619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860" r="0" b="-21686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536192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Develop a mobile application for field traffic officers to receive instant high-risk zone alerts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27383" y="5704075"/>
            <a:ext cx="665483" cy="866651"/>
            <a:chOff x="0" y="0"/>
            <a:chExt cx="887311" cy="115553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8534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87222" cy="1155448"/>
            </a:xfrm>
            <a:custGeom>
              <a:avLst/>
              <a:gdLst/>
              <a:ahLst/>
              <a:cxnLst/>
              <a:rect r="r" b="b" t="t" l="l"/>
              <a:pathLst>
                <a:path h="1155448" w="887222">
                  <a:moveTo>
                    <a:pt x="16891" y="0"/>
                  </a:moveTo>
                  <a:lnTo>
                    <a:pt x="870331" y="0"/>
                  </a:lnTo>
                  <a:cubicBezTo>
                    <a:pt x="879729" y="0"/>
                    <a:pt x="887222" y="7620"/>
                    <a:pt x="887222" y="16891"/>
                  </a:cubicBezTo>
                  <a:lnTo>
                    <a:pt x="887222" y="1138555"/>
                  </a:lnTo>
                  <a:cubicBezTo>
                    <a:pt x="887222" y="1147953"/>
                    <a:pt x="879602" y="1155446"/>
                    <a:pt x="87033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870331" y="1121664"/>
                  </a:lnTo>
                  <a:lnTo>
                    <a:pt x="870331" y="1138555"/>
                  </a:lnTo>
                  <a:lnTo>
                    <a:pt x="853440" y="1138555"/>
                  </a:lnTo>
                  <a:lnTo>
                    <a:pt x="853440" y="16891"/>
                  </a:lnTo>
                  <a:lnTo>
                    <a:pt x="870331" y="16891"/>
                  </a:lnTo>
                  <a:lnTo>
                    <a:pt x="870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640080" y="5716772"/>
            <a:ext cx="640080" cy="841248"/>
            <a:chOff x="0" y="0"/>
            <a:chExt cx="853440" cy="112166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534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627" t="0" r="-118627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853440" cy="11788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➤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61437" y="5706608"/>
            <a:ext cx="11907517" cy="861565"/>
            <a:chOff x="0" y="0"/>
            <a:chExt cx="15876689" cy="114875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3589" y="13589"/>
              <a:ext cx="15849601" cy="1121664"/>
            </a:xfrm>
            <a:custGeom>
              <a:avLst/>
              <a:gdLst/>
              <a:ahLst/>
              <a:cxnLst/>
              <a:rect r="r" b="b" t="t" l="l"/>
              <a:pathLst>
                <a:path h="1121664" w="15849601">
                  <a:moveTo>
                    <a:pt x="0" y="0"/>
                  </a:moveTo>
                  <a:lnTo>
                    <a:pt x="15849601" y="0"/>
                  </a:lnTo>
                  <a:lnTo>
                    <a:pt x="15849601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8E1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5876778" cy="1148842"/>
            </a:xfrm>
            <a:custGeom>
              <a:avLst/>
              <a:gdLst/>
              <a:ahLst/>
              <a:cxnLst/>
              <a:rect r="r" b="b" t="t" l="l"/>
              <a:pathLst>
                <a:path h="1148842" w="15876778">
                  <a:moveTo>
                    <a:pt x="13589" y="0"/>
                  </a:moveTo>
                  <a:lnTo>
                    <a:pt x="15863190" y="0"/>
                  </a:lnTo>
                  <a:cubicBezTo>
                    <a:pt x="15870682" y="0"/>
                    <a:pt x="15876778" y="6096"/>
                    <a:pt x="15876778" y="13589"/>
                  </a:cubicBezTo>
                  <a:lnTo>
                    <a:pt x="15876778" y="1135253"/>
                  </a:lnTo>
                  <a:cubicBezTo>
                    <a:pt x="15876778" y="1142746"/>
                    <a:pt x="15870682" y="1148842"/>
                    <a:pt x="15863190" y="1148842"/>
                  </a:cubicBezTo>
                  <a:lnTo>
                    <a:pt x="13589" y="1148842"/>
                  </a:lnTo>
                  <a:cubicBezTo>
                    <a:pt x="6096" y="1148715"/>
                    <a:pt x="0" y="1142746"/>
                    <a:pt x="0" y="1135253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135253"/>
                  </a:lnTo>
                  <a:lnTo>
                    <a:pt x="13589" y="1135253"/>
                  </a:lnTo>
                  <a:lnTo>
                    <a:pt x="13589" y="1121664"/>
                  </a:lnTo>
                  <a:lnTo>
                    <a:pt x="15863190" y="1121664"/>
                  </a:lnTo>
                  <a:lnTo>
                    <a:pt x="15863190" y="1135253"/>
                  </a:lnTo>
                  <a:lnTo>
                    <a:pt x="15849600" y="1135253"/>
                  </a:lnTo>
                  <a:lnTo>
                    <a:pt x="15849600" y="13589"/>
                  </a:lnTo>
                  <a:lnTo>
                    <a:pt x="15863190" y="13589"/>
                  </a:lnTo>
                  <a:lnTo>
                    <a:pt x="15863190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554480" y="5716772"/>
            <a:ext cx="11521440" cy="841248"/>
            <a:chOff x="0" y="0"/>
            <a:chExt cx="15361920" cy="112166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53619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860" r="0" b="-21686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536192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Connect system with smart signal regulation infrastructure for automated traffic control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27383" y="7057387"/>
            <a:ext cx="665483" cy="866651"/>
            <a:chOff x="0" y="0"/>
            <a:chExt cx="887311" cy="115553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8534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1B2A4A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87222" cy="1155448"/>
            </a:xfrm>
            <a:custGeom>
              <a:avLst/>
              <a:gdLst/>
              <a:ahLst/>
              <a:cxnLst/>
              <a:rect r="r" b="b" t="t" l="l"/>
              <a:pathLst>
                <a:path h="1155448" w="887222">
                  <a:moveTo>
                    <a:pt x="16891" y="0"/>
                  </a:moveTo>
                  <a:lnTo>
                    <a:pt x="870331" y="0"/>
                  </a:lnTo>
                  <a:cubicBezTo>
                    <a:pt x="879729" y="0"/>
                    <a:pt x="887222" y="7620"/>
                    <a:pt x="887222" y="16891"/>
                  </a:cubicBezTo>
                  <a:lnTo>
                    <a:pt x="887222" y="1138555"/>
                  </a:lnTo>
                  <a:cubicBezTo>
                    <a:pt x="887222" y="1147953"/>
                    <a:pt x="879602" y="1155446"/>
                    <a:pt x="87033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870331" y="1121664"/>
                  </a:lnTo>
                  <a:lnTo>
                    <a:pt x="870331" y="1138555"/>
                  </a:lnTo>
                  <a:lnTo>
                    <a:pt x="853440" y="1138555"/>
                  </a:lnTo>
                  <a:lnTo>
                    <a:pt x="853440" y="16891"/>
                  </a:lnTo>
                  <a:lnTo>
                    <a:pt x="870331" y="16891"/>
                  </a:lnTo>
                  <a:lnTo>
                    <a:pt x="870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40080" y="7070084"/>
            <a:ext cx="640080" cy="841248"/>
            <a:chOff x="0" y="0"/>
            <a:chExt cx="853440" cy="112166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534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627" t="0" r="-118627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853440" cy="11788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➤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61437" y="7059920"/>
            <a:ext cx="11907517" cy="861565"/>
            <a:chOff x="0" y="0"/>
            <a:chExt cx="15876689" cy="114875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3589" y="13589"/>
              <a:ext cx="15849601" cy="1121664"/>
            </a:xfrm>
            <a:custGeom>
              <a:avLst/>
              <a:gdLst/>
              <a:ahLst/>
              <a:cxnLst/>
              <a:rect r="r" b="b" t="t" l="l"/>
              <a:pathLst>
                <a:path h="1121664" w="15849601">
                  <a:moveTo>
                    <a:pt x="0" y="0"/>
                  </a:moveTo>
                  <a:lnTo>
                    <a:pt x="15849601" y="0"/>
                  </a:lnTo>
                  <a:lnTo>
                    <a:pt x="15849601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5876778" cy="1148842"/>
            </a:xfrm>
            <a:custGeom>
              <a:avLst/>
              <a:gdLst/>
              <a:ahLst/>
              <a:cxnLst/>
              <a:rect r="r" b="b" t="t" l="l"/>
              <a:pathLst>
                <a:path h="1148842" w="15876778">
                  <a:moveTo>
                    <a:pt x="13589" y="0"/>
                  </a:moveTo>
                  <a:lnTo>
                    <a:pt x="15863190" y="0"/>
                  </a:lnTo>
                  <a:cubicBezTo>
                    <a:pt x="15870682" y="0"/>
                    <a:pt x="15876778" y="6096"/>
                    <a:pt x="15876778" y="13589"/>
                  </a:cubicBezTo>
                  <a:lnTo>
                    <a:pt x="15876778" y="1135253"/>
                  </a:lnTo>
                  <a:cubicBezTo>
                    <a:pt x="15876778" y="1142746"/>
                    <a:pt x="15870682" y="1148842"/>
                    <a:pt x="15863190" y="1148842"/>
                  </a:cubicBezTo>
                  <a:lnTo>
                    <a:pt x="13589" y="1148842"/>
                  </a:lnTo>
                  <a:cubicBezTo>
                    <a:pt x="6096" y="1148715"/>
                    <a:pt x="0" y="1142746"/>
                    <a:pt x="0" y="1135253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135253"/>
                  </a:lnTo>
                  <a:lnTo>
                    <a:pt x="13589" y="1135253"/>
                  </a:lnTo>
                  <a:lnTo>
                    <a:pt x="13589" y="1121664"/>
                  </a:lnTo>
                  <a:lnTo>
                    <a:pt x="15863190" y="1121664"/>
                  </a:lnTo>
                  <a:lnTo>
                    <a:pt x="15863190" y="1135253"/>
                  </a:lnTo>
                  <a:lnTo>
                    <a:pt x="15849600" y="1135253"/>
                  </a:lnTo>
                  <a:lnTo>
                    <a:pt x="15849600" y="13589"/>
                  </a:lnTo>
                  <a:lnTo>
                    <a:pt x="15863190" y="13589"/>
                  </a:lnTo>
                  <a:lnTo>
                    <a:pt x="15863190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554480" y="7070084"/>
            <a:ext cx="11521440" cy="841248"/>
            <a:chOff x="0" y="0"/>
            <a:chExt cx="15361920" cy="112166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53619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860" r="0" b="-21686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1536192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Expand to multi-city deployments using cloud-hosted scalable infrastructure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27383" y="8410699"/>
            <a:ext cx="665483" cy="866651"/>
            <a:chOff x="0" y="0"/>
            <a:chExt cx="887311" cy="115553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8534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87222" cy="1155448"/>
            </a:xfrm>
            <a:custGeom>
              <a:avLst/>
              <a:gdLst/>
              <a:ahLst/>
              <a:cxnLst/>
              <a:rect r="r" b="b" t="t" l="l"/>
              <a:pathLst>
                <a:path h="1155448" w="887222">
                  <a:moveTo>
                    <a:pt x="16891" y="0"/>
                  </a:moveTo>
                  <a:lnTo>
                    <a:pt x="870331" y="0"/>
                  </a:lnTo>
                  <a:cubicBezTo>
                    <a:pt x="879729" y="0"/>
                    <a:pt x="887222" y="7620"/>
                    <a:pt x="887222" y="16891"/>
                  </a:cubicBezTo>
                  <a:lnTo>
                    <a:pt x="887222" y="1138555"/>
                  </a:lnTo>
                  <a:cubicBezTo>
                    <a:pt x="887222" y="1147953"/>
                    <a:pt x="879602" y="1155446"/>
                    <a:pt x="87033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870331" y="1121664"/>
                  </a:lnTo>
                  <a:lnTo>
                    <a:pt x="870331" y="1138555"/>
                  </a:lnTo>
                  <a:lnTo>
                    <a:pt x="853440" y="1138555"/>
                  </a:lnTo>
                  <a:lnTo>
                    <a:pt x="853440" y="16891"/>
                  </a:lnTo>
                  <a:lnTo>
                    <a:pt x="870331" y="16891"/>
                  </a:lnTo>
                  <a:lnTo>
                    <a:pt x="870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640080" y="8423396"/>
            <a:ext cx="640080" cy="841248"/>
            <a:chOff x="0" y="0"/>
            <a:chExt cx="853440" cy="112166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53440" cy="1121664"/>
            </a:xfrm>
            <a:custGeom>
              <a:avLst/>
              <a:gdLst/>
              <a:ahLst/>
              <a:cxnLst/>
              <a:rect r="r" b="b" t="t" l="l"/>
              <a:pathLst>
                <a:path h="1121664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627" t="0" r="-118627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57150"/>
              <a:ext cx="853440" cy="11788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➤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361437" y="8413232"/>
            <a:ext cx="11907517" cy="861565"/>
            <a:chOff x="0" y="0"/>
            <a:chExt cx="15876689" cy="1148753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3589" y="13589"/>
              <a:ext cx="15849601" cy="1121664"/>
            </a:xfrm>
            <a:custGeom>
              <a:avLst/>
              <a:gdLst/>
              <a:ahLst/>
              <a:cxnLst/>
              <a:rect r="r" b="b" t="t" l="l"/>
              <a:pathLst>
                <a:path h="1121664" w="15849601">
                  <a:moveTo>
                    <a:pt x="0" y="0"/>
                  </a:moveTo>
                  <a:lnTo>
                    <a:pt x="15849601" y="0"/>
                  </a:lnTo>
                  <a:lnTo>
                    <a:pt x="15849601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8E1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5876778" cy="1148842"/>
            </a:xfrm>
            <a:custGeom>
              <a:avLst/>
              <a:gdLst/>
              <a:ahLst/>
              <a:cxnLst/>
              <a:rect r="r" b="b" t="t" l="l"/>
              <a:pathLst>
                <a:path h="1148842" w="15876778">
                  <a:moveTo>
                    <a:pt x="13589" y="0"/>
                  </a:moveTo>
                  <a:lnTo>
                    <a:pt x="15863190" y="0"/>
                  </a:lnTo>
                  <a:cubicBezTo>
                    <a:pt x="15870682" y="0"/>
                    <a:pt x="15876778" y="6096"/>
                    <a:pt x="15876778" y="13589"/>
                  </a:cubicBezTo>
                  <a:lnTo>
                    <a:pt x="15876778" y="1135253"/>
                  </a:lnTo>
                  <a:cubicBezTo>
                    <a:pt x="15876778" y="1142746"/>
                    <a:pt x="15870682" y="1148842"/>
                    <a:pt x="15863190" y="1148842"/>
                  </a:cubicBezTo>
                  <a:lnTo>
                    <a:pt x="13589" y="1148842"/>
                  </a:lnTo>
                  <a:cubicBezTo>
                    <a:pt x="6096" y="1148715"/>
                    <a:pt x="0" y="1142746"/>
                    <a:pt x="0" y="1135253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135253"/>
                  </a:lnTo>
                  <a:lnTo>
                    <a:pt x="13589" y="1135253"/>
                  </a:lnTo>
                  <a:lnTo>
                    <a:pt x="13589" y="1121664"/>
                  </a:lnTo>
                  <a:lnTo>
                    <a:pt x="15863190" y="1121664"/>
                  </a:lnTo>
                  <a:lnTo>
                    <a:pt x="15863190" y="1135253"/>
                  </a:lnTo>
                  <a:lnTo>
                    <a:pt x="15849600" y="1135253"/>
                  </a:lnTo>
                  <a:lnTo>
                    <a:pt x="15849600" y="13589"/>
                  </a:lnTo>
                  <a:lnTo>
                    <a:pt x="15863190" y="13589"/>
                  </a:lnTo>
                  <a:lnTo>
                    <a:pt x="15863190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554480" y="8423396"/>
            <a:ext cx="11521440" cy="841248"/>
            <a:chOff x="0" y="0"/>
            <a:chExt cx="15361920" cy="112166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53619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860" r="0" b="-21686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1536192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 Explainable AI (XAI) to justify risk predictions for legal and policy use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8640" y="1828800"/>
            <a:ext cx="17190720" cy="2377440"/>
            <a:chOff x="0" y="0"/>
            <a:chExt cx="22920960" cy="3169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20961" cy="3169920"/>
            </a:xfrm>
            <a:custGeom>
              <a:avLst/>
              <a:gdLst/>
              <a:ahLst/>
              <a:cxnLst/>
              <a:rect r="r" b="b" t="t" l="l"/>
              <a:pathLst>
                <a:path h="31699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891" r="0" b="-9089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19075"/>
              <a:ext cx="22920960" cy="3388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960"/>
                </a:lnSpc>
              </a:pPr>
              <a:r>
                <a:rPr lang="en-US" b="true" sz="10800" spc="1600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4206240"/>
            <a:ext cx="16459200" cy="1280160"/>
            <a:chOff x="0" y="0"/>
            <a:chExt cx="21945600" cy="1706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94560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i="true">
                  <a:solidFill>
                    <a:srgbClr val="0000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Traffic Violation Prediction using Machine Learning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 i="true">
                  <a:solidFill>
                    <a:srgbClr val="00000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to Identify High-Risk Zones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644903" y="5565143"/>
            <a:ext cx="10998203" cy="98555"/>
            <a:chOff x="0" y="0"/>
            <a:chExt cx="14664271" cy="1314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4630399" cy="97536"/>
            </a:xfrm>
            <a:custGeom>
              <a:avLst/>
              <a:gdLst/>
              <a:ahLst/>
              <a:cxnLst/>
              <a:rect r="r" b="b" t="t" l="l"/>
              <a:pathLst>
                <a:path h="97536" w="14630399">
                  <a:moveTo>
                    <a:pt x="0" y="0"/>
                  </a:moveTo>
                  <a:lnTo>
                    <a:pt x="14630399" y="0"/>
                  </a:lnTo>
                  <a:lnTo>
                    <a:pt x="146303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64182" cy="131320"/>
            </a:xfrm>
            <a:custGeom>
              <a:avLst/>
              <a:gdLst/>
              <a:ahLst/>
              <a:cxnLst/>
              <a:rect r="r" b="b" t="t" l="l"/>
              <a:pathLst>
                <a:path h="131320" w="14664182">
                  <a:moveTo>
                    <a:pt x="16891" y="0"/>
                  </a:moveTo>
                  <a:lnTo>
                    <a:pt x="14647290" y="0"/>
                  </a:lnTo>
                  <a:cubicBezTo>
                    <a:pt x="14656690" y="0"/>
                    <a:pt x="14664182" y="7620"/>
                    <a:pt x="14664182" y="16891"/>
                  </a:cubicBezTo>
                  <a:lnTo>
                    <a:pt x="14664182" y="114427"/>
                  </a:lnTo>
                  <a:cubicBezTo>
                    <a:pt x="14664182" y="123825"/>
                    <a:pt x="14656563" y="131318"/>
                    <a:pt x="146472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4647290" y="97536"/>
                  </a:lnTo>
                  <a:lnTo>
                    <a:pt x="14647290" y="114427"/>
                  </a:lnTo>
                  <a:lnTo>
                    <a:pt x="14630400" y="114427"/>
                  </a:lnTo>
                  <a:lnTo>
                    <a:pt x="14630400" y="16891"/>
                  </a:lnTo>
                  <a:lnTo>
                    <a:pt x="14647290" y="16891"/>
                  </a:lnTo>
                  <a:lnTo>
                    <a:pt x="14647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DAHHATxJkcs</dc:identifier>
  <dcterms:modified xsi:type="dcterms:W3CDTF">2011-08-01T06:04:30Z</dcterms:modified>
  <cp:revision>1</cp:revision>
  <dc:title>ML_V1.pptx</dc:title>
</cp:coreProperties>
</file>